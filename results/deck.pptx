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Source label: Simulation-based estimate; not a real-world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camera: the noise model is assumed. Supply data/video and labels to replace it.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1–30 after config.lock. Mention the sublane fallback only if asked: netconvert failed, standard lanes were 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peak interval, not a rounded-up slogan. All numbers are from results/headlines.json. Completed-trip counts match fixed time in the summary table, so the cut is not from stranded vehicles.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says this is just max-pressure, stay on this slide. The operational claim versus today's fixed signals is the first column. The scientific claim for fuel weights is the last two columns: small, positive, intervals above zero. PPO was selected on validation and still lost; on the peak it also gridlocked. See the summary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the full 30-seed test. It is the robustness sweep on the peak scenario. The curve is flat in the third decimal from 0 to 30% misses. Perception noise elsewhere in the deck is assumed.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slide out loud. Independent and coordinated XtraFlow both used more fuel and more waiting than fixed time and actuated. Coordination did not change outcomes. Decision D018. Label: simulation-based estimate.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Perception flag is ASSUMED_NOISE_MODEL_NO_USER_VIDEO.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Do not end on the annual litre range. The single-junction fuel result versus fixed time is the result. The grid is the limit.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cars, seven controllers, four demand patterns. Not a field deployment.</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30</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7</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controllers</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not a real-world deployment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Max-pressure, with one change: a vehicle counts in proportion to its idle fuel, relative to a car.</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Peak, one-sided.</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YOLO with a region of interest can read the same queue. This run had no field video, so detector error is assumed (15% miss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30</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numbers in the rest of this deck</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Webster, Actuated, Max-pressure, Count only, PPO.</a:t>
            </a:r>
          </a:p>
        </p:txBody>
      </p:sp>
      <p:sp>
        <p:nvSpPr>
          <p:cNvPr id="33" name="TextBox 32"/>
          <p:cNvSpPr txBox="1"/>
          <p:nvPr/>
        </p:nvSpPr>
        <p:spPr>
          <a:xfrm>
            <a:off x="502920" y="5669280"/>
            <a:ext cx="11228832" cy="3200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Built with standard lanes.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Less fuel than fixed time, every scenario</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per completed vehicle against fixed time. 30 paired seeds. Bootstrap 95% intervals.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11" name="TextBox 10"/>
          <p:cNvSpPr txBox="1"/>
          <p:nvPr/>
        </p:nvSpPr>
        <p:spPr>
          <a:xfrm>
            <a:off x="704088"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21.8</a:t>
            </a:r>
            <a:r>
              <a:rPr sz="1800" b="1" i="0">
                <a:solidFill>
                  <a:srgbClr val="1B6B5A"/>
                </a:solidFill>
                <a:latin typeface="Georgia"/>
                <a:ea typeface="Georgia"/>
                <a:cs typeface="Georgia"/>
              </a:rPr>
              <a:t>%</a:t>
            </a:r>
          </a:p>
        </p:txBody>
      </p:sp>
      <p:sp>
        <p:nvSpPr>
          <p:cNvPr id="12" name="TextBox 11"/>
          <p:cNvSpPr txBox="1"/>
          <p:nvPr/>
        </p:nvSpPr>
        <p:spPr>
          <a:xfrm>
            <a:off x="704088"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20.0  –  23.5</a:t>
            </a:r>
          </a:p>
        </p:txBody>
      </p:sp>
      <p:sp>
        <p:nvSpPr>
          <p:cNvPr id="13" name="TextBox 12"/>
          <p:cNvSpPr txBox="1"/>
          <p:nvPr/>
        </p:nvSpPr>
        <p:spPr>
          <a:xfrm>
            <a:off x="704088"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14" name="Rectangle 13"/>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47872"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19" name="TextBox 18"/>
          <p:cNvSpPr txBox="1"/>
          <p:nvPr/>
        </p:nvSpPr>
        <p:spPr>
          <a:xfrm>
            <a:off x="3547872"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16.5</a:t>
            </a:r>
            <a:r>
              <a:rPr sz="1800" b="1" i="0">
                <a:solidFill>
                  <a:srgbClr val="1B6B5A"/>
                </a:solidFill>
                <a:latin typeface="Georgia"/>
                <a:ea typeface="Georgia"/>
                <a:cs typeface="Georgia"/>
              </a:rPr>
              <a:t>%</a:t>
            </a:r>
          </a:p>
        </p:txBody>
      </p:sp>
      <p:sp>
        <p:nvSpPr>
          <p:cNvPr id="20" name="TextBox 19"/>
          <p:cNvSpPr txBox="1"/>
          <p:nvPr/>
        </p:nvSpPr>
        <p:spPr>
          <a:xfrm>
            <a:off x="3547872"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15.7  –  17.3</a:t>
            </a:r>
          </a:p>
        </p:txBody>
      </p:sp>
      <p:sp>
        <p:nvSpPr>
          <p:cNvPr id="21" name="TextBox 20"/>
          <p:cNvSpPr txBox="1"/>
          <p:nvPr/>
        </p:nvSpPr>
        <p:spPr>
          <a:xfrm>
            <a:off x="3547872"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22" name="Rectangle 21"/>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66160" y="4709160"/>
            <a:ext cx="1712691"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5"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7" name="TextBox 26"/>
          <p:cNvSpPr txBox="1"/>
          <p:nvPr/>
        </p:nvSpPr>
        <p:spPr>
          <a:xfrm>
            <a:off x="6391655"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14.5</a:t>
            </a:r>
            <a:r>
              <a:rPr sz="1800" b="1" i="0">
                <a:solidFill>
                  <a:srgbClr val="1B6B5A"/>
                </a:solidFill>
                <a:latin typeface="Georgia"/>
                <a:ea typeface="Georgia"/>
                <a:cs typeface="Georgia"/>
              </a:rPr>
              <a:t>%</a:t>
            </a:r>
          </a:p>
        </p:txBody>
      </p:sp>
      <p:sp>
        <p:nvSpPr>
          <p:cNvPr id="28" name="TextBox 27"/>
          <p:cNvSpPr txBox="1"/>
          <p:nvPr/>
        </p:nvSpPr>
        <p:spPr>
          <a:xfrm>
            <a:off x="6391655"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14.0  –  14.9</a:t>
            </a:r>
          </a:p>
        </p:txBody>
      </p:sp>
      <p:sp>
        <p:nvSpPr>
          <p:cNvPr id="29" name="TextBox 28"/>
          <p:cNvSpPr txBox="1"/>
          <p:nvPr/>
        </p:nvSpPr>
        <p:spPr>
          <a:xfrm>
            <a:off x="6391655"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30" name="Rectangle 29"/>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9944" y="4709160"/>
            <a:ext cx="1500707"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35440" y="1965960"/>
            <a:ext cx="2331720" cy="50292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5" name="TextBox 34"/>
          <p:cNvSpPr txBox="1"/>
          <p:nvPr/>
        </p:nvSpPr>
        <p:spPr>
          <a:xfrm>
            <a:off x="9235440" y="2606040"/>
            <a:ext cx="2331720" cy="640080"/>
          </a:xfrm>
          <a:prstGeom prst="rect">
            <a:avLst/>
          </a:prstGeom>
          <a:noFill/>
        </p:spPr>
        <p:txBody>
          <a:bodyPr wrap="square" lIns="0" rIns="0" tIns="0" bIns="0" anchor="t"/>
          <a:lstStyle/>
          <a:p>
            <a:pPr algn="l">
              <a:spcBef>
                <a:spcPts val="0"/>
              </a:spcBef>
              <a:spcAft>
                <a:spcPts val="0"/>
              </a:spcAft>
            </a:pPr>
            <a:r>
              <a:rPr sz="3600" b="1" i="0">
                <a:solidFill>
                  <a:srgbClr val="1B6B5A"/>
                </a:solidFill>
                <a:latin typeface="Georgia"/>
                <a:ea typeface="Georgia"/>
                <a:cs typeface="Georgia"/>
              </a:rPr>
              <a:t>8.6</a:t>
            </a:r>
            <a:r>
              <a:rPr sz="1800" b="1" i="0">
                <a:solidFill>
                  <a:srgbClr val="1B6B5A"/>
                </a:solidFill>
                <a:latin typeface="Georgia"/>
                <a:ea typeface="Georgia"/>
                <a:cs typeface="Georgia"/>
              </a:rPr>
              <a:t>%</a:t>
            </a:r>
          </a:p>
        </p:txBody>
      </p:sp>
      <p:sp>
        <p:nvSpPr>
          <p:cNvPr id="36" name="TextBox 35"/>
          <p:cNvSpPr txBox="1"/>
          <p:nvPr/>
        </p:nvSpPr>
        <p:spPr>
          <a:xfrm>
            <a:off x="9235440" y="3337560"/>
            <a:ext cx="2331720" cy="50292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8.2  –  9.0</a:t>
            </a:r>
          </a:p>
        </p:txBody>
      </p:sp>
      <p:sp>
        <p:nvSpPr>
          <p:cNvPr id="37" name="TextBox 36"/>
          <p:cNvSpPr txBox="1"/>
          <p:nvPr/>
        </p:nvSpPr>
        <p:spPr>
          <a:xfrm>
            <a:off x="9235440" y="3794760"/>
            <a:ext cx="2331720"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95% interval</a:t>
            </a:r>
          </a:p>
        </p:txBody>
      </p:sp>
      <p:sp>
        <p:nvSpPr>
          <p:cNvPr id="38" name="Rectangle 37"/>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253728" y="4709160"/>
            <a:ext cx="893317"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All four scenarios are flagged OK. Tuning stopped before these seeds were scored.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gap that matters is versus fixed time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Against a strong adaptive controller, fuel weighting is a smaller edge. It is still on the same side every time.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185415"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Scenario</a:t>
            </a:r>
          </a:p>
        </p:txBody>
      </p:sp>
      <p:sp>
        <p:nvSpPr>
          <p:cNvPr id="10" name="TextBox 9"/>
          <p:cNvSpPr txBox="1"/>
          <p:nvPr/>
        </p:nvSpPr>
        <p:spPr>
          <a:xfrm>
            <a:off x="2944368" y="1572768"/>
            <a:ext cx="2075688"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fixed</a:t>
            </a:r>
          </a:p>
        </p:txBody>
      </p:sp>
      <p:sp>
        <p:nvSpPr>
          <p:cNvPr id="11" name="TextBox 10"/>
          <p:cNvSpPr txBox="1"/>
          <p:nvPr/>
        </p:nvSpPr>
        <p:spPr>
          <a:xfrm>
            <a:off x="5166359" y="1572768"/>
            <a:ext cx="2075688"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actuated</a:t>
            </a:r>
          </a:p>
        </p:txBody>
      </p:sp>
      <p:sp>
        <p:nvSpPr>
          <p:cNvPr id="12" name="TextBox 11"/>
          <p:cNvSpPr txBox="1"/>
          <p:nvPr/>
        </p:nvSpPr>
        <p:spPr>
          <a:xfrm>
            <a:off x="7388351" y="1572768"/>
            <a:ext cx="2185415"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max-pressure</a:t>
            </a:r>
          </a:p>
        </p:txBody>
      </p:sp>
      <p:sp>
        <p:nvSpPr>
          <p:cNvPr id="13" name="TextBox 12"/>
          <p:cNvSpPr txBox="1"/>
          <p:nvPr/>
        </p:nvSpPr>
        <p:spPr>
          <a:xfrm>
            <a:off x="9720071" y="1572768"/>
            <a:ext cx="1975103" cy="420624"/>
          </a:xfrm>
          <a:prstGeom prst="rect">
            <a:avLst/>
          </a:prstGeom>
          <a:noFill/>
        </p:spPr>
        <p:txBody>
          <a:bodyPr wrap="square" lIns="0" rIns="0" tIns="0" bIns="0" anchor="ctr"/>
          <a:lstStyle/>
          <a:p>
            <a:pPr algn="l">
              <a:spcBef>
                <a:spcPts val="0"/>
              </a:spcBef>
              <a:spcAft>
                <a:spcPts val="0"/>
              </a:spcAft>
            </a:pPr>
            <a:r>
              <a:rPr sz="1300" b="1" i="0">
                <a:solidFill>
                  <a:srgbClr val="FFFFFF"/>
                </a:solidFill>
                <a:latin typeface="Calibri"/>
                <a:ea typeface="Calibri"/>
                <a:cs typeface="Calibri"/>
              </a:rPr>
              <a:t>vs count only</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16" name="TextBox 15"/>
          <p:cNvSpPr txBox="1"/>
          <p:nvPr/>
        </p:nvSpPr>
        <p:spPr>
          <a:xfrm>
            <a:off x="2907791" y="2066544"/>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21.8%</a:t>
            </a:r>
          </a:p>
        </p:txBody>
      </p:sp>
      <p:sp>
        <p:nvSpPr>
          <p:cNvPr id="17" name="TextBox 16"/>
          <p:cNvSpPr txBox="1"/>
          <p:nvPr/>
        </p:nvSpPr>
        <p:spPr>
          <a:xfrm>
            <a:off x="2889503" y="2359152"/>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20.0 – 23.5</a:t>
            </a:r>
          </a:p>
        </p:txBody>
      </p:sp>
      <p:sp>
        <p:nvSpPr>
          <p:cNvPr id="18" name="TextBox 17"/>
          <p:cNvSpPr txBox="1"/>
          <p:nvPr/>
        </p:nvSpPr>
        <p:spPr>
          <a:xfrm>
            <a:off x="5129783" y="2066544"/>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9.7%</a:t>
            </a:r>
          </a:p>
        </p:txBody>
      </p:sp>
      <p:sp>
        <p:nvSpPr>
          <p:cNvPr id="19" name="TextBox 18"/>
          <p:cNvSpPr txBox="1"/>
          <p:nvPr/>
        </p:nvSpPr>
        <p:spPr>
          <a:xfrm>
            <a:off x="5111495" y="2359152"/>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9.4 – 10.0</a:t>
            </a:r>
          </a:p>
        </p:txBody>
      </p:sp>
      <p:sp>
        <p:nvSpPr>
          <p:cNvPr id="20" name="TextBox 19"/>
          <p:cNvSpPr txBox="1"/>
          <p:nvPr/>
        </p:nvSpPr>
        <p:spPr>
          <a:xfrm>
            <a:off x="7351775" y="2066544"/>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a:t>
            </a:r>
          </a:p>
        </p:txBody>
      </p:sp>
      <p:sp>
        <p:nvSpPr>
          <p:cNvPr id="21" name="TextBox 20"/>
          <p:cNvSpPr txBox="1"/>
          <p:nvPr/>
        </p:nvSpPr>
        <p:spPr>
          <a:xfrm>
            <a:off x="7333488" y="2359152"/>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0.8 – 1.5</a:t>
            </a:r>
          </a:p>
        </p:txBody>
      </p:sp>
      <p:sp>
        <p:nvSpPr>
          <p:cNvPr id="22" name="TextBox 21"/>
          <p:cNvSpPr txBox="1"/>
          <p:nvPr/>
        </p:nvSpPr>
        <p:spPr>
          <a:xfrm>
            <a:off x="9683495" y="2066544"/>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a:t>
            </a:r>
          </a:p>
        </p:txBody>
      </p:sp>
      <p:sp>
        <p:nvSpPr>
          <p:cNvPr id="23" name="TextBox 22"/>
          <p:cNvSpPr txBox="1"/>
          <p:nvPr/>
        </p:nvSpPr>
        <p:spPr>
          <a:xfrm>
            <a:off x="9665207" y="2359152"/>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0.9 – 1.6</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907791" y="2779776"/>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16.5%</a:t>
            </a:r>
          </a:p>
        </p:txBody>
      </p:sp>
      <p:sp>
        <p:nvSpPr>
          <p:cNvPr id="27" name="TextBox 26"/>
          <p:cNvSpPr txBox="1"/>
          <p:nvPr/>
        </p:nvSpPr>
        <p:spPr>
          <a:xfrm>
            <a:off x="2889503" y="3072384"/>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15.7 – 17.3</a:t>
            </a:r>
          </a:p>
        </p:txBody>
      </p:sp>
      <p:sp>
        <p:nvSpPr>
          <p:cNvPr id="28" name="TextBox 27"/>
          <p:cNvSpPr txBox="1"/>
          <p:nvPr/>
        </p:nvSpPr>
        <p:spPr>
          <a:xfrm>
            <a:off x="5129783" y="2779776"/>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8.9%</a:t>
            </a:r>
          </a:p>
        </p:txBody>
      </p:sp>
      <p:sp>
        <p:nvSpPr>
          <p:cNvPr id="29" name="TextBox 28"/>
          <p:cNvSpPr txBox="1"/>
          <p:nvPr/>
        </p:nvSpPr>
        <p:spPr>
          <a:xfrm>
            <a:off x="5111495" y="3072384"/>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8.5 – 9.3</a:t>
            </a:r>
          </a:p>
        </p:txBody>
      </p:sp>
      <p:sp>
        <p:nvSpPr>
          <p:cNvPr id="30" name="TextBox 29"/>
          <p:cNvSpPr txBox="1"/>
          <p:nvPr/>
        </p:nvSpPr>
        <p:spPr>
          <a:xfrm>
            <a:off x="7351775" y="2779776"/>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0.6%</a:t>
            </a:r>
          </a:p>
        </p:txBody>
      </p:sp>
      <p:sp>
        <p:nvSpPr>
          <p:cNvPr id="31" name="TextBox 30"/>
          <p:cNvSpPr txBox="1"/>
          <p:nvPr/>
        </p:nvSpPr>
        <p:spPr>
          <a:xfrm>
            <a:off x="7333488" y="3072384"/>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0.2 – 1.0</a:t>
            </a:r>
          </a:p>
        </p:txBody>
      </p:sp>
      <p:sp>
        <p:nvSpPr>
          <p:cNvPr id="32" name="TextBox 31"/>
          <p:cNvSpPr txBox="1"/>
          <p:nvPr/>
        </p:nvSpPr>
        <p:spPr>
          <a:xfrm>
            <a:off x="9683495" y="2779776"/>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0.6%</a:t>
            </a:r>
          </a:p>
        </p:txBody>
      </p:sp>
      <p:sp>
        <p:nvSpPr>
          <p:cNvPr id="33" name="TextBox 32"/>
          <p:cNvSpPr txBox="1"/>
          <p:nvPr/>
        </p:nvSpPr>
        <p:spPr>
          <a:xfrm>
            <a:off x="9665207" y="3072384"/>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0.3 – 1.0</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36" name="TextBox 35"/>
          <p:cNvSpPr txBox="1"/>
          <p:nvPr/>
        </p:nvSpPr>
        <p:spPr>
          <a:xfrm>
            <a:off x="2907791" y="3493008"/>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14.5%</a:t>
            </a:r>
          </a:p>
        </p:txBody>
      </p:sp>
      <p:sp>
        <p:nvSpPr>
          <p:cNvPr id="37" name="TextBox 36"/>
          <p:cNvSpPr txBox="1"/>
          <p:nvPr/>
        </p:nvSpPr>
        <p:spPr>
          <a:xfrm>
            <a:off x="2889503" y="3785616"/>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14.0 – 14.9</a:t>
            </a:r>
          </a:p>
        </p:txBody>
      </p:sp>
      <p:sp>
        <p:nvSpPr>
          <p:cNvPr id="38" name="TextBox 37"/>
          <p:cNvSpPr txBox="1"/>
          <p:nvPr/>
        </p:nvSpPr>
        <p:spPr>
          <a:xfrm>
            <a:off x="5129783" y="3493008"/>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11.8%</a:t>
            </a:r>
          </a:p>
        </p:txBody>
      </p:sp>
      <p:sp>
        <p:nvSpPr>
          <p:cNvPr id="39" name="TextBox 38"/>
          <p:cNvSpPr txBox="1"/>
          <p:nvPr/>
        </p:nvSpPr>
        <p:spPr>
          <a:xfrm>
            <a:off x="5111495" y="3785616"/>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11.2 – 12.4</a:t>
            </a:r>
          </a:p>
        </p:txBody>
      </p:sp>
      <p:sp>
        <p:nvSpPr>
          <p:cNvPr id="40" name="TextBox 39"/>
          <p:cNvSpPr txBox="1"/>
          <p:nvPr/>
        </p:nvSpPr>
        <p:spPr>
          <a:xfrm>
            <a:off x="7351775" y="3493008"/>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1.8%</a:t>
            </a:r>
          </a:p>
        </p:txBody>
      </p:sp>
      <p:sp>
        <p:nvSpPr>
          <p:cNvPr id="41" name="TextBox 40"/>
          <p:cNvSpPr txBox="1"/>
          <p:nvPr/>
        </p:nvSpPr>
        <p:spPr>
          <a:xfrm>
            <a:off x="7333488" y="3785616"/>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1.3 – 2.4</a:t>
            </a:r>
          </a:p>
        </p:txBody>
      </p:sp>
      <p:sp>
        <p:nvSpPr>
          <p:cNvPr id="42" name="TextBox 41"/>
          <p:cNvSpPr txBox="1"/>
          <p:nvPr/>
        </p:nvSpPr>
        <p:spPr>
          <a:xfrm>
            <a:off x="9683495" y="3493008"/>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2.6%</a:t>
            </a:r>
          </a:p>
        </p:txBody>
      </p:sp>
      <p:sp>
        <p:nvSpPr>
          <p:cNvPr id="43" name="TextBox 42"/>
          <p:cNvSpPr txBox="1"/>
          <p:nvPr/>
        </p:nvSpPr>
        <p:spPr>
          <a:xfrm>
            <a:off x="9665207" y="3785616"/>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2.1 – 3.0</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2148839"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907791" y="4206240"/>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8.6%</a:t>
            </a:r>
          </a:p>
        </p:txBody>
      </p:sp>
      <p:sp>
        <p:nvSpPr>
          <p:cNvPr id="47" name="TextBox 46"/>
          <p:cNvSpPr txBox="1"/>
          <p:nvPr/>
        </p:nvSpPr>
        <p:spPr>
          <a:xfrm>
            <a:off x="2889503" y="4498848"/>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8.2 – 9.0</a:t>
            </a:r>
          </a:p>
        </p:txBody>
      </p:sp>
      <p:sp>
        <p:nvSpPr>
          <p:cNvPr id="48" name="TextBox 47"/>
          <p:cNvSpPr txBox="1"/>
          <p:nvPr/>
        </p:nvSpPr>
        <p:spPr>
          <a:xfrm>
            <a:off x="5129783" y="4206240"/>
            <a:ext cx="211226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5.6%</a:t>
            </a:r>
          </a:p>
        </p:txBody>
      </p:sp>
      <p:sp>
        <p:nvSpPr>
          <p:cNvPr id="49" name="TextBox 48"/>
          <p:cNvSpPr txBox="1"/>
          <p:nvPr/>
        </p:nvSpPr>
        <p:spPr>
          <a:xfrm>
            <a:off x="5111495" y="4498848"/>
            <a:ext cx="213055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5.2 – 5.9</a:t>
            </a:r>
          </a:p>
        </p:txBody>
      </p:sp>
      <p:sp>
        <p:nvSpPr>
          <p:cNvPr id="50" name="TextBox 49"/>
          <p:cNvSpPr txBox="1"/>
          <p:nvPr/>
        </p:nvSpPr>
        <p:spPr>
          <a:xfrm>
            <a:off x="7351775" y="4206240"/>
            <a:ext cx="2221991"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a:t>
            </a:r>
          </a:p>
        </p:txBody>
      </p:sp>
      <p:sp>
        <p:nvSpPr>
          <p:cNvPr id="51" name="TextBox 50"/>
          <p:cNvSpPr txBox="1"/>
          <p:nvPr/>
        </p:nvSpPr>
        <p:spPr>
          <a:xfrm>
            <a:off x="7333488" y="4498848"/>
            <a:ext cx="2240279"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0.9 – 1.6</a:t>
            </a:r>
          </a:p>
        </p:txBody>
      </p:sp>
      <p:sp>
        <p:nvSpPr>
          <p:cNvPr id="52" name="TextBox 51"/>
          <p:cNvSpPr txBox="1"/>
          <p:nvPr/>
        </p:nvSpPr>
        <p:spPr>
          <a:xfrm>
            <a:off x="9683495" y="4206240"/>
            <a:ext cx="2011679"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0.6%</a:t>
            </a:r>
          </a:p>
        </p:txBody>
      </p:sp>
      <p:sp>
        <p:nvSpPr>
          <p:cNvPr id="53" name="TextBox 52"/>
          <p:cNvSpPr txBox="1"/>
          <p:nvPr/>
        </p:nvSpPr>
        <p:spPr>
          <a:xfrm>
            <a:off x="9665207" y="4498848"/>
            <a:ext cx="2029967"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0.3 – 0.9</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0.6% to 1.8%. Every 95% interval is above zero. Versus the count-only ablation: 0.6% to 2.6%. PPO used more fuel than XtraFlow in every scenario.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the tuning scenario, on the locked test. Completed trips match fixed time (1,796).</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0.158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41.8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18.1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19.4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8.8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710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553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35.5 s   to   19.0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46%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Low demand</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27.3 s   to   15.9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30.1 s   to   21.9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missed vehicle does not erase the saving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10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n=10</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n=10</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n=10</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n=10</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36092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0.156 L</a:t>
            </a:r>
          </a:p>
        </p:txBody>
      </p:sp>
      <p:sp>
        <p:nvSpPr>
          <p:cNvPr id="35" name="TextBox 34"/>
          <p:cNvSpPr txBox="1"/>
          <p:nvPr/>
        </p:nvSpPr>
        <p:spPr>
          <a:xfrm>
            <a:off x="736092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Fixed time</a:t>
            </a:r>
          </a:p>
        </p:txBody>
      </p:sp>
      <p:sp>
        <p:nvSpPr>
          <p:cNvPr id="36" name="TextBox 35"/>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XtraFlow stays under both reference lines across this miss range. The assumed noise model at 15% miss lands at 0.124 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On a grid, fuel goes the wrong way</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2×2 network, 5 seeds. The controller was tuned for a single junction.</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600200"/>
            <a:ext cx="3633216" cy="30632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ACTUATED</a:t>
            </a:r>
          </a:p>
        </p:txBody>
      </p:sp>
      <p:sp>
        <p:nvSpPr>
          <p:cNvPr id="10" name="TextBox 9"/>
          <p:cNvSpPr txBox="1"/>
          <p:nvPr/>
        </p:nvSpPr>
        <p:spPr>
          <a:xfrm>
            <a:off x="722376"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0.145</a:t>
            </a:r>
          </a:p>
        </p:txBody>
      </p:sp>
      <p:sp>
        <p:nvSpPr>
          <p:cNvPr id="11" name="TextBox 10"/>
          <p:cNvSpPr txBox="1"/>
          <p:nvPr/>
        </p:nvSpPr>
        <p:spPr>
          <a:xfrm>
            <a:off x="722376"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722376" y="3337560"/>
            <a:ext cx="3221735" cy="32004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18.2 s mean wait</a:t>
            </a:r>
          </a:p>
        </p:txBody>
      </p:sp>
      <p:sp>
        <p:nvSpPr>
          <p:cNvPr id="13" name="TextBox 12"/>
          <p:cNvSpPr txBox="1"/>
          <p:nvPr/>
        </p:nvSpPr>
        <p:spPr>
          <a:xfrm>
            <a:off x="722376"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Lowest fuel here</a:t>
            </a:r>
          </a:p>
        </p:txBody>
      </p:sp>
      <p:sp>
        <p:nvSpPr>
          <p:cNvPr id="14" name="Rounded Rectangle 13"/>
          <p:cNvSpPr/>
          <p:nvPr/>
        </p:nvSpPr>
        <p:spPr>
          <a:xfrm>
            <a:off x="4300728" y="1600200"/>
            <a:ext cx="3633216" cy="30632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FIXED TIME</a:t>
            </a:r>
          </a:p>
        </p:txBody>
      </p:sp>
      <p:sp>
        <p:nvSpPr>
          <p:cNvPr id="16" name="TextBox 15"/>
          <p:cNvSpPr txBox="1"/>
          <p:nvPr/>
        </p:nvSpPr>
        <p:spPr>
          <a:xfrm>
            <a:off x="4520184"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0.183</a:t>
            </a:r>
          </a:p>
        </p:txBody>
      </p:sp>
      <p:sp>
        <p:nvSpPr>
          <p:cNvPr id="17" name="TextBox 16"/>
          <p:cNvSpPr txBox="1"/>
          <p:nvPr/>
        </p:nvSpPr>
        <p:spPr>
          <a:xfrm>
            <a:off x="4520184"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8" name="TextBox 17"/>
          <p:cNvSpPr txBox="1"/>
          <p:nvPr/>
        </p:nvSpPr>
        <p:spPr>
          <a:xfrm>
            <a:off x="4520184" y="3337560"/>
            <a:ext cx="3221735" cy="32004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42.6 s mean wait</a:t>
            </a:r>
          </a:p>
        </p:txBody>
      </p:sp>
      <p:sp>
        <p:nvSpPr>
          <p:cNvPr id="19" name="TextBox 18"/>
          <p:cNvSpPr txBox="1"/>
          <p:nvPr/>
        </p:nvSpPr>
        <p:spPr>
          <a:xfrm>
            <a:off x="4520184"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The simple baseline</a:t>
            </a:r>
          </a:p>
        </p:txBody>
      </p:sp>
      <p:sp>
        <p:nvSpPr>
          <p:cNvPr id="20" name="Rounded Rectangle 19"/>
          <p:cNvSpPr/>
          <p:nvPr/>
        </p:nvSpPr>
        <p:spPr>
          <a:xfrm>
            <a:off x="8098536" y="1600200"/>
            <a:ext cx="3633216" cy="3063240"/>
          </a:xfrm>
          <a:prstGeom prst="roundRect">
            <a:avLst>
              <a:gd name="adj" fmla="val 8000"/>
            </a:avLst>
          </a:prstGeom>
          <a:solidFill>
            <a:srgbClr val="FBEEE8"/>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17992" y="1783080"/>
            <a:ext cx="3221735" cy="274320"/>
          </a:xfrm>
          <a:prstGeom prst="rect">
            <a:avLst/>
          </a:prstGeom>
          <a:noFill/>
        </p:spPr>
        <p:txBody>
          <a:bodyPr wrap="square" lIns="0" rIns="0" tIns="0" bIns="0" anchor="t"/>
          <a:lstStyle/>
          <a:p>
            <a:pPr algn="l">
              <a:spcBef>
                <a:spcPts val="0"/>
              </a:spcBef>
              <a:spcAft>
                <a:spcPts val="0"/>
              </a:spcAft>
            </a:pPr>
            <a:r>
              <a:rPr sz="1300" b="1" i="0">
                <a:solidFill>
                  <a:srgbClr val="B84E2A"/>
                </a:solidFill>
                <a:latin typeface="Calibri"/>
                <a:ea typeface="Calibri"/>
                <a:cs typeface="Calibri"/>
              </a:rPr>
              <a:t>XTRAFLOW</a:t>
            </a:r>
          </a:p>
        </p:txBody>
      </p:sp>
      <p:sp>
        <p:nvSpPr>
          <p:cNvPr id="22" name="TextBox 21"/>
          <p:cNvSpPr txBox="1"/>
          <p:nvPr/>
        </p:nvSpPr>
        <p:spPr>
          <a:xfrm>
            <a:off x="8317992" y="2240280"/>
            <a:ext cx="3221735" cy="640080"/>
          </a:xfrm>
          <a:prstGeom prst="rect">
            <a:avLst/>
          </a:prstGeom>
          <a:noFill/>
        </p:spPr>
        <p:txBody>
          <a:bodyPr wrap="square" lIns="0" rIns="0" tIns="0" bIns="0" anchor="t"/>
          <a:lstStyle/>
          <a:p>
            <a:pPr algn="l">
              <a:spcBef>
                <a:spcPts val="0"/>
              </a:spcBef>
              <a:spcAft>
                <a:spcPts val="0"/>
              </a:spcAft>
            </a:pPr>
            <a:r>
              <a:rPr sz="3200" b="1" i="0">
                <a:solidFill>
                  <a:srgbClr val="B84E2A"/>
                </a:solidFill>
                <a:latin typeface="Georgia"/>
                <a:ea typeface="Georgia"/>
                <a:cs typeface="Georgia"/>
              </a:rPr>
              <a:t>0.269</a:t>
            </a:r>
          </a:p>
        </p:txBody>
      </p:sp>
      <p:sp>
        <p:nvSpPr>
          <p:cNvPr id="23" name="TextBox 22"/>
          <p:cNvSpPr txBox="1"/>
          <p:nvPr/>
        </p:nvSpPr>
        <p:spPr>
          <a:xfrm>
            <a:off x="8317992" y="2926080"/>
            <a:ext cx="3221735"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4" name="TextBox 23"/>
          <p:cNvSpPr txBox="1"/>
          <p:nvPr/>
        </p:nvSpPr>
        <p:spPr>
          <a:xfrm>
            <a:off x="8317992" y="3337560"/>
            <a:ext cx="3221735" cy="32004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118.7 s mean wait</a:t>
            </a:r>
          </a:p>
        </p:txBody>
      </p:sp>
      <p:sp>
        <p:nvSpPr>
          <p:cNvPr id="25" name="TextBox 24"/>
          <p:cNvSpPr txBox="1"/>
          <p:nvPr/>
        </p:nvSpPr>
        <p:spPr>
          <a:xfrm>
            <a:off x="8317992" y="3794760"/>
            <a:ext cx="3221735"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Higher fuel</a:t>
            </a:r>
          </a:p>
        </p:txBody>
      </p:sp>
      <p:sp>
        <p:nvSpPr>
          <p:cNvPr id="26" name="Rounded Rectangle 25"/>
          <p:cNvSpPr/>
          <p:nvPr/>
        </p:nvSpPr>
        <p:spPr>
          <a:xfrm>
            <a:off x="502920" y="4846320"/>
            <a:ext cx="11228832" cy="137160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8" y="5029200"/>
            <a:ext cx="10680192" cy="32004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DO NOT SCALE THIS TO A CITY</a:t>
            </a:r>
          </a:p>
        </p:txBody>
      </p:sp>
      <p:sp>
        <p:nvSpPr>
          <p:cNvPr id="28" name="TextBox 27"/>
          <p:cNvSpPr txBox="1"/>
          <p:nvPr/>
        </p:nvSpPr>
        <p:spPr>
          <a:xfrm>
            <a:off x="795528" y="5394960"/>
            <a:ext cx="10680192" cy="594360"/>
          </a:xfrm>
          <a:prstGeom prst="rect">
            <a:avLst/>
          </a:prstGeom>
          <a:noFill/>
        </p:spPr>
        <p:txBody>
          <a:bodyPr wrap="square" lIns="0" rIns="0" tIns="0" bIns="0" anchor="t"/>
          <a:lstStyle/>
          <a:p>
            <a:pPr algn="l">
              <a:spcBef>
                <a:spcPts val="0"/>
              </a:spcBef>
              <a:spcAft>
                <a:spcPts val="0"/>
              </a:spcAft>
            </a:pPr>
            <a:r>
              <a:rPr sz="1600" b="0" i="0">
                <a:solidFill>
                  <a:srgbClr val="FFFFFF"/>
                </a:solidFill>
                <a:latin typeface="Calibri"/>
                <a:ea typeface="Calibri"/>
                <a:cs typeface="Calibri"/>
              </a:rPr>
              <a:t>A neighbor-pressure coordination term matched independent control exactly. It did not reduce fuel or waiting. A corridor needs its own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Conflicts did not rise. CO₂ still falls.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One caveat sits with those two checks: the camera model is assumed.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No increase</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XtraFlow minus fixed time averages 0.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direction</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21.1%. Alternate model 13.2%.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Assumed</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No field video in this run. Smoke-test miss rate 15%. Treat detector error as assumed until labels exist.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wide bar is the assumed city size, not uncertainty in the junction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ON PEAK, ONE-SIDED</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0.035</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0.032 – 0.038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56028"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9.0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66.8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27.7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67,151 tonnes   ·   21,783 tonnes – 161,618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A real video replaces the assumed detector-error model.</a:t>
            </a:r>
          </a:p>
        </p:txBody>
      </p:sp>
      <p:sp>
        <p:nvSpPr>
          <p:cNvPr id="14" name="Rounded Rectangle 13"/>
          <p:cNvSpPr/>
          <p:nvPr/>
        </p:nvSpPr>
        <p:spPr>
          <a:xfrm>
            <a:off x="8086344" y="2880360"/>
            <a:ext cx="3645407" cy="214884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Redesign the corridor</a:t>
            </a:r>
          </a:p>
        </p:txBody>
      </p:sp>
      <p:sp>
        <p:nvSpPr>
          <p:cNvPr id="17" name="TextBox 16"/>
          <p:cNvSpPr txBox="1"/>
          <p:nvPr/>
        </p:nvSpPr>
        <p:spPr>
          <a:xfrm>
            <a:off x="8287512" y="3977639"/>
            <a:ext cx="3261360" cy="82296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Neighbor pressure, as implemented, did not help the grid.</a:t>
            </a:r>
          </a:p>
        </p:txBody>
      </p:sp>
      <p:sp>
        <p:nvSpPr>
          <p:cNvPr id="18" name="TextBox 17"/>
          <p:cNvSpPr txBox="1"/>
          <p:nvPr/>
        </p:nvSpPr>
        <p:spPr>
          <a:xfrm>
            <a:off x="713232" y="530352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19" name="TextBox 18"/>
          <p:cNvSpPr txBox="1"/>
          <p:nvPr/>
        </p:nvSpPr>
        <p:spPr>
          <a:xfrm>
            <a:off x="713232" y="566928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not a real-world deployment result</a:t>
            </a:r>
          </a:p>
        </p:txBody>
      </p:sp>
      <p:sp>
        <p:nvSpPr>
          <p:cNvPr id="20" name="TextBox 19"/>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1" name="TextBox 20"/>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not a real-world deployment result</cp:category>
</cp:coreProperties>
</file>