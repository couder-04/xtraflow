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energy, not on travel time. Say out loud that this is a simulation before the first percentage. Source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 is assumed until observed counts are supplied. Do not present it as a city survey. Idle-fuel ratios are measured in SUMO, not guessed.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hysteresis: the new phase must beat the current pressure by the tuned margin. Must-serve forces a switch so a waiting approach is not ignored. Weights file: results/weights.json. Tuned parameters: results/tuned_params.json, validation seeds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the camera: the noise model is assumed. Supply data/video and labels to replace it. Do not claim a field detector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seed means identical demand. Test seeds are the ones stored in results/raw_runs.csv. Sublane use is the used_sublane field in results/sublane_fallback.json.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peak interval, not a rounded-up slogan. All numbers are from results/headlines.json. Completed-trip counts match fixed time in the summary table, so the cut is not from stranded vehicles.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paired intervals on this slide from the loaded comparison table. Do not add a verdict that is not in those intervals. RL is a baseline trained with the budget in rl_selection.json.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are means from results/tables/summary_mean_std.csv. The fuel percentage on the previous slide is the mean of paired percent cuts, which is not identical to the percent gap between these two means. Waiting cuts are percent gaps between means. Say that if someone mixes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Means are grouped from results/robustness.json. Do not describe the curve as flat unless the loaded means say so. The noise-model source field is empirical only when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results/grid_results.json. The title is computed from those means. Do not describe coordination unless coordination_reduces_fuel is in that file.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verdict comes from results/safety.json. Emission cross-check is HBEFA3 versus PHEMlight on a smaller seed set than the main test; quote both percentages. Perception flag is ASSUMED_NOISE_MODEL_NO_USER_VIDEO.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per-vehicle litres. The annual figure multiplies that saving by the ranges on the right, Monte Carlo from config.yaml. The price in fuel.price_inr_per_L is a placeholder. Quote the extrapolation label: simulation-based estimate, not a deployment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conditions. Do not end on the annual litre range. The headline comparison is in results/headlines.json.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1298448"/>
            <a:ext cx="91440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SIMULATION STUDY</a:t>
            </a:r>
          </a:p>
        </p:txBody>
      </p:sp>
      <p:sp>
        <p:nvSpPr>
          <p:cNvPr id="4" name="TextBox 3"/>
          <p:cNvSpPr txBox="1"/>
          <p:nvPr/>
        </p:nvSpPr>
        <p:spPr>
          <a:xfrm>
            <a:off x="685800" y="1627632"/>
            <a:ext cx="10058400" cy="868680"/>
          </a:xfrm>
          <a:prstGeom prst="rect">
            <a:avLst/>
          </a:prstGeom>
          <a:noFill/>
        </p:spPr>
        <p:txBody>
          <a:bodyPr wrap="square" lIns="0" rIns="0" tIns="0" bIns="0" anchor="t"/>
          <a:lstStyle/>
          <a:p>
            <a:pPr algn="l">
              <a:spcBef>
                <a:spcPts val="0"/>
              </a:spcBef>
              <a:spcAft>
                <a:spcPts val="0"/>
              </a:spcAft>
            </a:pPr>
            <a:r>
              <a:rPr sz="5400" b="1" i="0">
                <a:solidFill>
                  <a:srgbClr val="FFFFFF"/>
                </a:solidFill>
                <a:latin typeface="Georgia"/>
                <a:ea typeface="Georgia"/>
                <a:cs typeface="Georgia"/>
              </a:rPr>
              <a:t>XtraFlow</a:t>
            </a:r>
          </a:p>
        </p:txBody>
      </p:sp>
      <p:sp>
        <p:nvSpPr>
          <p:cNvPr id="5" name="Rectangle 4"/>
          <p:cNvSpPr/>
          <p:nvPr/>
        </p:nvSpPr>
        <p:spPr>
          <a:xfrm>
            <a:off x="731520" y="2578608"/>
            <a:ext cx="1965960" cy="32004"/>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788920"/>
            <a:ext cx="9144000" cy="457200"/>
          </a:xfrm>
          <a:prstGeom prst="rect">
            <a:avLst/>
          </a:prstGeom>
          <a:noFill/>
        </p:spPr>
        <p:txBody>
          <a:bodyPr wrap="square" lIns="0" rIns="0" tIns="0" bIns="0" anchor="t"/>
          <a:lstStyle/>
          <a:p>
            <a:pPr algn="l">
              <a:spcBef>
                <a:spcPts val="0"/>
              </a:spcBef>
              <a:spcAft>
                <a:spcPts val="0"/>
              </a:spcAft>
            </a:pPr>
            <a:r>
              <a:rPr sz="2600" b="0" i="0">
                <a:solidFill>
                  <a:srgbClr val="F0C26A"/>
                </a:solidFill>
                <a:latin typeface="Georgia"/>
                <a:ea typeface="Georgia"/>
                <a:cs typeface="Georgia"/>
              </a:rPr>
              <a:t>Fuel-weighted traffic signals</a:t>
            </a:r>
          </a:p>
        </p:txBody>
      </p:sp>
      <p:sp>
        <p:nvSpPr>
          <p:cNvPr id="7" name="TextBox 6"/>
          <p:cNvSpPr txBox="1"/>
          <p:nvPr/>
        </p:nvSpPr>
        <p:spPr>
          <a:xfrm>
            <a:off x="713232" y="3383280"/>
            <a:ext cx="8412480" cy="777240"/>
          </a:xfrm>
          <a:prstGeom prst="rect">
            <a:avLst/>
          </a:prstGeom>
          <a:noFill/>
        </p:spPr>
        <p:txBody>
          <a:bodyPr wrap="square" lIns="0" rIns="0" tIns="0" bIns="0" anchor="t"/>
          <a:lstStyle/>
          <a:p>
            <a:pPr algn="l">
              <a:spcBef>
                <a:spcPts val="0"/>
              </a:spcBef>
              <a:spcAft>
                <a:spcPts val="0"/>
              </a:spcAft>
            </a:pPr>
            <a:r>
              <a:rPr sz="1800" b="0" i="0">
                <a:solidFill>
                  <a:srgbClr val="C9D4DC"/>
                </a:solidFill>
                <a:latin typeface="Calibri"/>
                <a:ea typeface="Calibri"/>
                <a:cs typeface="Calibri"/>
              </a:rPr>
              <a:t>A locked comparison on mixed Indian traffic. Same cars, seven controllers, four demand patterns. Not a field deployment.</a:t>
            </a:r>
          </a:p>
        </p:txBody>
      </p:sp>
      <p:sp>
        <p:nvSpPr>
          <p:cNvPr id="8" name="TextBox 7"/>
          <p:cNvSpPr txBox="1"/>
          <p:nvPr/>
        </p:nvSpPr>
        <p:spPr>
          <a:xfrm>
            <a:off x="7132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4</a:t>
            </a:r>
          </a:p>
        </p:txBody>
      </p:sp>
      <p:sp>
        <p:nvSpPr>
          <p:cNvPr id="9" name="TextBox 8"/>
          <p:cNvSpPr txBox="1"/>
          <p:nvPr/>
        </p:nvSpPr>
        <p:spPr>
          <a:xfrm>
            <a:off x="7132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scenarios</a:t>
            </a:r>
          </a:p>
        </p:txBody>
      </p:sp>
      <p:sp>
        <p:nvSpPr>
          <p:cNvPr id="10" name="TextBox 9"/>
          <p:cNvSpPr txBox="1"/>
          <p:nvPr/>
        </p:nvSpPr>
        <p:spPr>
          <a:xfrm>
            <a:off x="39136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30</a:t>
            </a:r>
          </a:p>
        </p:txBody>
      </p:sp>
      <p:sp>
        <p:nvSpPr>
          <p:cNvPr id="11" name="TextBox 10"/>
          <p:cNvSpPr txBox="1"/>
          <p:nvPr/>
        </p:nvSpPr>
        <p:spPr>
          <a:xfrm>
            <a:off x="39136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test seeds, scored once</a:t>
            </a:r>
          </a:p>
        </p:txBody>
      </p:sp>
      <p:sp>
        <p:nvSpPr>
          <p:cNvPr id="12" name="TextBox 11"/>
          <p:cNvSpPr txBox="1"/>
          <p:nvPr/>
        </p:nvSpPr>
        <p:spPr>
          <a:xfrm>
            <a:off x="71140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8</a:t>
            </a:r>
          </a:p>
        </p:txBody>
      </p:sp>
      <p:sp>
        <p:nvSpPr>
          <p:cNvPr id="13" name="TextBox 12"/>
          <p:cNvSpPr txBox="1"/>
          <p:nvPr/>
        </p:nvSpPr>
        <p:spPr>
          <a:xfrm>
            <a:off x="71140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controllers</a:t>
            </a:r>
          </a:p>
        </p:txBody>
      </p:sp>
      <p:sp>
        <p:nvSpPr>
          <p:cNvPr id="14" name="TextBox 13"/>
          <p:cNvSpPr txBox="1"/>
          <p:nvPr/>
        </p:nvSpPr>
        <p:spPr>
          <a:xfrm>
            <a:off x="713232" y="5989320"/>
            <a:ext cx="7315200" cy="27432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github.com/couder-04/XtraFlow</a:t>
            </a:r>
          </a:p>
        </p:txBody>
      </p:sp>
      <p:sp>
        <p:nvSpPr>
          <p:cNvPr id="15" name="TextBox 14"/>
          <p:cNvSpPr txBox="1"/>
          <p:nvPr/>
        </p:nvSpPr>
        <p:spPr>
          <a:xfrm>
            <a:off x="713232" y="6291072"/>
            <a:ext cx="9144000" cy="256032"/>
          </a:xfrm>
          <a:prstGeom prst="rect">
            <a:avLst/>
          </a:prstGeom>
          <a:noFill/>
        </p:spPr>
        <p:txBody>
          <a:bodyPr wrap="square" lIns="0" rIns="0" tIns="0" bIns="0" anchor="t"/>
          <a:lstStyle/>
          <a:p>
            <a:pPr algn="l">
              <a:spcBef>
                <a:spcPts val="0"/>
              </a:spcBef>
              <a:spcAft>
                <a:spcPts val="0"/>
              </a:spcAft>
            </a:pPr>
            <a:r>
              <a:rPr sz="1200" b="0" i="0">
                <a:solidFill>
                  <a:srgbClr val="8A9BA8"/>
                </a:solidFill>
                <a:latin typeface="Calibri"/>
                <a:ea typeface="Calibri"/>
                <a:cs typeface="Calibri"/>
              </a:rPr>
              <a:t>Simulation-based estimate; assumed traffic mix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PROBLEM</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 stopped queue is burning fuel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Fixed green cannot see which approach is waiting, or what that wait costs.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02</a:t>
            </a:r>
          </a:p>
        </p:txBody>
      </p:sp>
      <p:sp>
        <p:nvSpPr>
          <p:cNvPr id="8" name="Rounded Rectangle 7"/>
          <p:cNvSpPr/>
          <p:nvPr/>
        </p:nvSpPr>
        <p:spPr>
          <a:xfrm>
            <a:off x="502920"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01</a:t>
            </a:r>
          </a:p>
        </p:txBody>
      </p:sp>
      <p:sp>
        <p:nvSpPr>
          <p:cNvPr id="10" name="TextBox 9"/>
          <p:cNvSpPr txBox="1"/>
          <p:nvPr/>
        </p:nvSpPr>
        <p:spPr>
          <a:xfrm>
            <a:off x="740664"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Fixed green is blind</a:t>
            </a:r>
          </a:p>
        </p:txBody>
      </p:sp>
      <p:sp>
        <p:nvSpPr>
          <p:cNvPr id="11" name="TextBox 10"/>
          <p:cNvSpPr txBox="1"/>
          <p:nvPr/>
        </p:nvSpPr>
        <p:spPr>
          <a:xfrm>
            <a:off x="740664"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The split stays put when one road is empty and the other is full. Webster helps the average hour. It still lags a peak that moves.</a:t>
            </a:r>
          </a:p>
        </p:txBody>
      </p:sp>
      <p:sp>
        <p:nvSpPr>
          <p:cNvPr id="12" name="Rounded Rectangle 11"/>
          <p:cNvSpPr/>
          <p:nvPr/>
        </p:nvSpPr>
        <p:spPr>
          <a:xfrm>
            <a:off x="4300728"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02</a:t>
            </a:r>
          </a:p>
        </p:txBody>
      </p:sp>
      <p:sp>
        <p:nvSpPr>
          <p:cNvPr id="14" name="TextBox 13"/>
          <p:cNvSpPr txBox="1"/>
          <p:nvPr/>
        </p:nvSpPr>
        <p:spPr>
          <a:xfrm>
            <a:off x="4538472"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A count is the wrong unit</a:t>
            </a:r>
          </a:p>
        </p:txBody>
      </p:sp>
      <p:sp>
        <p:nvSpPr>
          <p:cNvPr id="15" name="TextBox 14"/>
          <p:cNvSpPr txBox="1"/>
          <p:nvPr/>
        </p:nvSpPr>
        <p:spPr>
          <a:xfrm>
            <a:off x="4538472"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Here a truck idles at 2.8× a car, a two-wheeler at 0.54×. Treating them as one vehicle spends green on the wrong queue.</a:t>
            </a:r>
          </a:p>
        </p:txBody>
      </p:sp>
      <p:sp>
        <p:nvSpPr>
          <p:cNvPr id="16" name="Rounded Rectangle 15"/>
          <p:cNvSpPr/>
          <p:nvPr/>
        </p:nvSpPr>
        <p:spPr>
          <a:xfrm>
            <a:off x="8098536"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03</a:t>
            </a:r>
          </a:p>
        </p:txBody>
      </p:sp>
      <p:sp>
        <p:nvSpPr>
          <p:cNvPr id="18" name="TextBox 17"/>
          <p:cNvSpPr txBox="1"/>
          <p:nvPr/>
        </p:nvSpPr>
        <p:spPr>
          <a:xfrm>
            <a:off x="8336280"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The question</a:t>
            </a:r>
          </a:p>
        </p:txBody>
      </p:sp>
      <p:sp>
        <p:nvSpPr>
          <p:cNvPr id="19" name="TextBox 18"/>
          <p:cNvSpPr txBox="1"/>
          <p:nvPr/>
        </p:nvSpPr>
        <p:spPr>
          <a:xfrm>
            <a:off x="8336280"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If the signal weighs each vehicle by idle fuel, do fuel, CO₂, delay, and queues fall — inside hard green, yellow, and all-red limits?</a:t>
            </a:r>
          </a:p>
        </p:txBody>
      </p:sp>
      <p:sp>
        <p:nvSpPr>
          <p:cNvPr id="20" name="Rounded Rectangle 19"/>
          <p:cNvSpPr/>
          <p:nvPr/>
        </p:nvSpPr>
        <p:spPr>
          <a:xfrm>
            <a:off x="502920" y="5440680"/>
            <a:ext cx="11228832" cy="868680"/>
          </a:xfrm>
          <a:prstGeom prst="roundRect">
            <a:avLst>
              <a:gd name="adj" fmla="val 8000"/>
            </a:avLst>
          </a:prstGeom>
          <a:solidFill>
            <a:srgbClr val="FBF8F3"/>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5559552"/>
            <a:ext cx="1077163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LEFT-HAND TRAFFIC  ·  ONE FOUR-ARM JUNCTION</a:t>
            </a:r>
          </a:p>
        </p:txBody>
      </p:sp>
      <p:sp>
        <p:nvSpPr>
          <p:cNvPr id="22" name="TextBox 21"/>
          <p:cNvSpPr txBox="1"/>
          <p:nvPr/>
        </p:nvSpPr>
        <p:spPr>
          <a:xfrm>
            <a:off x="758952" y="5833872"/>
            <a:ext cx="10771632" cy="32004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Assumed mix   ·   two-wheelers 40%   ·   cars 30%   ·   trucks 15%   ·   autos 10%   ·   buses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CONTROLLER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Weigh the queue by the fuel it burns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Max-pressure, with one change: a vehicle counts in proportion to its idle fuel, relative to a car.</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03</a:t>
            </a:r>
          </a:p>
        </p:txBody>
      </p:sp>
      <p:sp>
        <p:nvSpPr>
          <p:cNvPr id="8" name="TextBox 7"/>
          <p:cNvSpPr txBox="1"/>
          <p:nvPr/>
        </p:nvSpPr>
        <p:spPr>
          <a:xfrm>
            <a:off x="502920" y="1600200"/>
            <a:ext cx="4892040" cy="1371600"/>
          </a:xfrm>
          <a:prstGeom prst="rect">
            <a:avLst/>
          </a:prstGeom>
          <a:noFill/>
        </p:spPr>
        <p:txBody>
          <a:bodyPr wrap="square" lIns="0" rIns="0" tIns="0" bIns="0" anchor="t"/>
          <a:lstStyle/>
          <a:p>
            <a:pPr algn="l">
              <a:spcBef>
                <a:spcPts val="0"/>
              </a:spcBef>
              <a:spcAft>
                <a:spcPts val="0"/>
              </a:spcAft>
            </a:pPr>
            <a:r>
              <a:rPr sz="1600" b="0" i="0">
                <a:solidFill>
                  <a:srgbClr val="1A2834"/>
                </a:solidFill>
                <a:latin typeface="Calibri"/>
                <a:ea typeface="Calibri"/>
                <a:cs typeface="Calibri"/>
              </a:rPr>
              <a:t>Weights come from a 60-second probe of fuel burned while the vehicle is stopped. Emission classes are assumed. Autos and cars share a class in this run, so they share a weight.</a:t>
            </a:r>
          </a:p>
        </p:txBody>
      </p:sp>
      <p:sp>
        <p:nvSpPr>
          <p:cNvPr id="9" name="TextBox 8"/>
          <p:cNvSpPr txBox="1"/>
          <p:nvPr/>
        </p:nvSpPr>
        <p:spPr>
          <a:xfrm>
            <a:off x="502920" y="3154680"/>
            <a:ext cx="4892040" cy="123444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Chosen on validation only</a:t>
            </a:r>
          </a:p>
          <a:p>
            <a:pPr algn="l">
              <a:spcBef>
                <a:spcPts val="0"/>
              </a:spcBef>
              <a:spcAft>
                <a:spcPts val="0"/>
              </a:spcAft>
            </a:pPr>
            <a:r>
              <a:rPr sz="1500" b="0" i="0">
                <a:solidFill>
                  <a:srgbClr val="1A2834"/>
                </a:solidFill>
                <a:latin typeface="Calibri"/>
                <a:ea typeface="Calibri"/>
                <a:cs typeface="Calibri"/>
              </a:rPr>
              <a:t>Look back 150 m. Count moving vehicles at 0.50. Switch only past hysteresis 0.25. Scenario: .</a:t>
            </a:r>
          </a:p>
        </p:txBody>
      </p:sp>
      <p:sp>
        <p:nvSpPr>
          <p:cNvPr id="10" name="TextBox 9"/>
          <p:cNvSpPr txBox="1"/>
          <p:nvPr/>
        </p:nvSpPr>
        <p:spPr>
          <a:xfrm>
            <a:off x="5532120" y="1627632"/>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Two-wheeler</a:t>
            </a:r>
          </a:p>
        </p:txBody>
      </p:sp>
      <p:sp>
        <p:nvSpPr>
          <p:cNvPr id="11" name="Rectangle 10"/>
          <p:cNvSpPr/>
          <p:nvPr/>
        </p:nvSpPr>
        <p:spPr>
          <a:xfrm>
            <a:off x="7040880" y="1755648"/>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40880" y="1755648"/>
            <a:ext cx="555877"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95560" y="1627632"/>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0.54×</a:t>
            </a:r>
          </a:p>
        </p:txBody>
      </p:sp>
      <p:sp>
        <p:nvSpPr>
          <p:cNvPr id="14" name="TextBox 13"/>
          <p:cNvSpPr txBox="1"/>
          <p:nvPr/>
        </p:nvSpPr>
        <p:spPr>
          <a:xfrm>
            <a:off x="5532120" y="2194560"/>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Auto</a:t>
            </a:r>
          </a:p>
        </p:txBody>
      </p:sp>
      <p:sp>
        <p:nvSpPr>
          <p:cNvPr id="15" name="Rectangle 14"/>
          <p:cNvSpPr/>
          <p:nvPr/>
        </p:nvSpPr>
        <p:spPr>
          <a:xfrm>
            <a:off x="7040880" y="2322576"/>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40880" y="2322576"/>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60" y="2194560"/>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18" name="TextBox 17"/>
          <p:cNvSpPr txBox="1"/>
          <p:nvPr/>
        </p:nvSpPr>
        <p:spPr>
          <a:xfrm>
            <a:off x="5532120" y="2761488"/>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Car</a:t>
            </a:r>
          </a:p>
        </p:txBody>
      </p:sp>
      <p:sp>
        <p:nvSpPr>
          <p:cNvPr id="19" name="Rectangle 18"/>
          <p:cNvSpPr/>
          <p:nvPr/>
        </p:nvSpPr>
        <p:spPr>
          <a:xfrm>
            <a:off x="7040880" y="2889504"/>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0" y="2889504"/>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5560" y="2761488"/>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22" name="TextBox 21"/>
          <p:cNvSpPr txBox="1"/>
          <p:nvPr/>
        </p:nvSpPr>
        <p:spPr>
          <a:xfrm>
            <a:off x="5532120" y="3328416"/>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Bus</a:t>
            </a:r>
          </a:p>
        </p:txBody>
      </p:sp>
      <p:sp>
        <p:nvSpPr>
          <p:cNvPr id="23" name="Rectangle 22"/>
          <p:cNvSpPr/>
          <p:nvPr/>
        </p:nvSpPr>
        <p:spPr>
          <a:xfrm>
            <a:off x="7040880" y="3456432"/>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80" y="3456432"/>
            <a:ext cx="2073252"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328416"/>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2.00×</a:t>
            </a:r>
          </a:p>
        </p:txBody>
      </p:sp>
      <p:sp>
        <p:nvSpPr>
          <p:cNvPr id="26" name="TextBox 25"/>
          <p:cNvSpPr txBox="1"/>
          <p:nvPr/>
        </p:nvSpPr>
        <p:spPr>
          <a:xfrm>
            <a:off x="5532120" y="3895344"/>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Truck</a:t>
            </a:r>
          </a:p>
        </p:txBody>
      </p:sp>
      <p:sp>
        <p:nvSpPr>
          <p:cNvPr id="27" name="Rectangle 26"/>
          <p:cNvSpPr/>
          <p:nvPr/>
        </p:nvSpPr>
        <p:spPr>
          <a:xfrm>
            <a:off x="7040880" y="4023359"/>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40880" y="4023359"/>
            <a:ext cx="2880360"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95560" y="3895344"/>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2.77×</a:t>
            </a:r>
          </a:p>
        </p:txBody>
      </p:sp>
      <p:sp>
        <p:nvSpPr>
          <p:cNvPr id="30" name="Rounded Rectangle 29"/>
          <p:cNvSpPr/>
          <p:nvPr/>
        </p:nvSpPr>
        <p:spPr>
          <a:xfrm>
            <a:off x="502920" y="4983480"/>
            <a:ext cx="11228832" cy="1298448"/>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102352"/>
            <a:ext cx="731520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TIMING THAT STAYS IN FORCE</a:t>
            </a:r>
          </a:p>
        </p:txBody>
      </p:sp>
      <p:sp>
        <p:nvSpPr>
          <p:cNvPr id="32" name="TextBox 31"/>
          <p:cNvSpPr txBox="1"/>
          <p:nvPr/>
        </p:nvSpPr>
        <p:spPr>
          <a:xfrm>
            <a:off x="704088"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15 s</a:t>
            </a:r>
          </a:p>
        </p:txBody>
      </p:sp>
      <p:sp>
        <p:nvSpPr>
          <p:cNvPr id="33" name="TextBox 32"/>
          <p:cNvSpPr txBox="1"/>
          <p:nvPr/>
        </p:nvSpPr>
        <p:spPr>
          <a:xfrm>
            <a:off x="704088"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Min green</a:t>
            </a:r>
          </a:p>
        </p:txBody>
      </p:sp>
      <p:sp>
        <p:nvSpPr>
          <p:cNvPr id="34" name="TextBox 33"/>
          <p:cNvSpPr txBox="1"/>
          <p:nvPr/>
        </p:nvSpPr>
        <p:spPr>
          <a:xfrm>
            <a:off x="2858414"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90 s</a:t>
            </a:r>
          </a:p>
        </p:txBody>
      </p:sp>
      <p:sp>
        <p:nvSpPr>
          <p:cNvPr id="35" name="TextBox 34"/>
          <p:cNvSpPr txBox="1"/>
          <p:nvPr/>
        </p:nvSpPr>
        <p:spPr>
          <a:xfrm>
            <a:off x="2858414"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Max green</a:t>
            </a:r>
          </a:p>
        </p:txBody>
      </p:sp>
      <p:sp>
        <p:nvSpPr>
          <p:cNvPr id="36" name="TextBox 35"/>
          <p:cNvSpPr txBox="1"/>
          <p:nvPr/>
        </p:nvSpPr>
        <p:spPr>
          <a:xfrm>
            <a:off x="5012740"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3 s</a:t>
            </a:r>
          </a:p>
        </p:txBody>
      </p:sp>
      <p:sp>
        <p:nvSpPr>
          <p:cNvPr id="37" name="TextBox 36"/>
          <p:cNvSpPr txBox="1"/>
          <p:nvPr/>
        </p:nvSpPr>
        <p:spPr>
          <a:xfrm>
            <a:off x="5012740"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Yellow</a:t>
            </a:r>
          </a:p>
        </p:txBody>
      </p:sp>
      <p:sp>
        <p:nvSpPr>
          <p:cNvPr id="38" name="TextBox 37"/>
          <p:cNvSpPr txBox="1"/>
          <p:nvPr/>
        </p:nvSpPr>
        <p:spPr>
          <a:xfrm>
            <a:off x="7167067"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2 s</a:t>
            </a:r>
          </a:p>
        </p:txBody>
      </p:sp>
      <p:sp>
        <p:nvSpPr>
          <p:cNvPr id="39" name="TextBox 38"/>
          <p:cNvSpPr txBox="1"/>
          <p:nvPr/>
        </p:nvSpPr>
        <p:spPr>
          <a:xfrm>
            <a:off x="7167067"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All-red</a:t>
            </a:r>
          </a:p>
        </p:txBody>
      </p:sp>
      <p:sp>
        <p:nvSpPr>
          <p:cNvPr id="40" name="TextBox 39"/>
          <p:cNvSpPr txBox="1"/>
          <p:nvPr/>
        </p:nvSpPr>
        <p:spPr>
          <a:xfrm>
            <a:off x="9321393"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120 s</a:t>
            </a:r>
          </a:p>
        </p:txBody>
      </p:sp>
      <p:sp>
        <p:nvSpPr>
          <p:cNvPr id="41" name="TextBox 40"/>
          <p:cNvSpPr txBox="1"/>
          <p:nvPr/>
        </p:nvSpPr>
        <p:spPr>
          <a:xfrm>
            <a:off x="9321393"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Must serve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HOW A DECISION IS MADE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See the queue. Score the fuel. Keep the timing.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signal never skips yellow or all-red, and it cannot hold green past the cap.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04</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740664"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See</a:t>
            </a:r>
          </a:p>
        </p:txBody>
      </p:sp>
      <p:sp>
        <p:nvSpPr>
          <p:cNvPr id="11" name="TextBox 10"/>
          <p:cNvSpPr txBox="1"/>
          <p:nvPr/>
        </p:nvSpPr>
        <p:spPr>
          <a:xfrm>
            <a:off x="740664"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Detectors on each approach, or a camera. YOLO with a region of interest can read the same queue. This run had no field video, so detector error is assumed (15% miss in the smoke check).</a:t>
            </a:r>
          </a:p>
        </p:txBody>
      </p:sp>
      <p:sp>
        <p:nvSpPr>
          <p:cNvPr id="12" name="Rounded Rectangle 11"/>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4538472"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Score</a:t>
            </a:r>
          </a:p>
        </p:txBody>
      </p:sp>
      <p:sp>
        <p:nvSpPr>
          <p:cNvPr id="15" name="TextBox 14"/>
          <p:cNvSpPr txBox="1"/>
          <p:nvPr/>
        </p:nvSpPr>
        <p:spPr>
          <a:xfrm>
            <a:off x="4538472"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Each queued vehicle is scaled by its idle-fuel weight. Moving vehicles count at the tuned fraction. The phase changes only after minimum green, and only if the gain clears hysteresis.</a:t>
            </a:r>
          </a:p>
        </p:txBody>
      </p:sp>
      <p:sp>
        <p:nvSpPr>
          <p:cNvPr id="16" name="Rounded Rectangle 15"/>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8336280"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Measure</a:t>
            </a:r>
          </a:p>
        </p:txBody>
      </p:sp>
      <p:sp>
        <p:nvSpPr>
          <p:cNvPr id="19" name="TextBox 18"/>
          <p:cNvSpPr txBox="1"/>
          <p:nvPr/>
        </p:nvSpPr>
        <p:spPr>
          <a:xfrm>
            <a:off x="8336280"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Fuel and CO₂ come from SUMO on every completed trip. Waiting and queues use the same seed the other controllers saw. The test set was not used to pick the settings.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EXPERIMENT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Same cars for every controller</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Settings are frozen before the test. A seed is one hour of the same demand, replayed.</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05</a:t>
            </a:r>
          </a:p>
        </p:txBody>
      </p:sp>
      <p:sp>
        <p:nvSpPr>
          <p:cNvPr id="8" name="Rounded Rectangle 7"/>
          <p:cNvSpPr/>
          <p:nvPr/>
        </p:nvSpPr>
        <p:spPr>
          <a:xfrm>
            <a:off x="502920"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TRAIN</a:t>
            </a:r>
          </a:p>
        </p:txBody>
      </p:sp>
      <p:sp>
        <p:nvSpPr>
          <p:cNvPr id="10" name="TextBox 9"/>
          <p:cNvSpPr txBox="1"/>
          <p:nvPr/>
        </p:nvSpPr>
        <p:spPr>
          <a:xfrm>
            <a:off x="704088"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1000 – 1049</a:t>
            </a:r>
          </a:p>
        </p:txBody>
      </p:sp>
      <p:sp>
        <p:nvSpPr>
          <p:cNvPr id="11" name="TextBox 10"/>
          <p:cNvSpPr txBox="1"/>
          <p:nvPr/>
        </p:nvSpPr>
        <p:spPr>
          <a:xfrm>
            <a:off x="704088"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Reinforcement-learning baseline only</a:t>
            </a:r>
          </a:p>
        </p:txBody>
      </p:sp>
      <p:sp>
        <p:nvSpPr>
          <p:cNvPr id="12" name="Rounded Rectangle 11"/>
          <p:cNvSpPr/>
          <p:nvPr/>
        </p:nvSpPr>
        <p:spPr>
          <a:xfrm>
            <a:off x="4294632"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799"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VALIDATION</a:t>
            </a:r>
          </a:p>
        </p:txBody>
      </p:sp>
      <p:sp>
        <p:nvSpPr>
          <p:cNvPr id="14" name="TextBox 13"/>
          <p:cNvSpPr txBox="1"/>
          <p:nvPr/>
        </p:nvSpPr>
        <p:spPr>
          <a:xfrm>
            <a:off x="4495799"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2000 – 2019</a:t>
            </a:r>
          </a:p>
        </p:txBody>
      </p:sp>
      <p:sp>
        <p:nvSpPr>
          <p:cNvPr id="15" name="TextBox 14"/>
          <p:cNvSpPr txBox="1"/>
          <p:nvPr/>
        </p:nvSpPr>
        <p:spPr>
          <a:xfrm>
            <a:off x="4495799"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Settings chosen here, then frozen</a:t>
            </a:r>
          </a:p>
        </p:txBody>
      </p:sp>
      <p:sp>
        <p:nvSpPr>
          <p:cNvPr id="16" name="Rounded Rectangle 15"/>
          <p:cNvSpPr/>
          <p:nvPr/>
        </p:nvSpPr>
        <p:spPr>
          <a:xfrm>
            <a:off x="8086344"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7512"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a:t>
            </a:r>
          </a:p>
        </p:txBody>
      </p:sp>
      <p:sp>
        <p:nvSpPr>
          <p:cNvPr id="18" name="TextBox 17"/>
          <p:cNvSpPr txBox="1"/>
          <p:nvPr/>
        </p:nvSpPr>
        <p:spPr>
          <a:xfrm>
            <a:off x="8287512"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 – 30</a:t>
            </a:r>
          </a:p>
        </p:txBody>
      </p:sp>
      <p:sp>
        <p:nvSpPr>
          <p:cNvPr id="19" name="TextBox 18"/>
          <p:cNvSpPr txBox="1"/>
          <p:nvPr/>
        </p:nvSpPr>
        <p:spPr>
          <a:xfrm>
            <a:off x="8287512"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numbers in the rest of this deck</a:t>
            </a:r>
          </a:p>
        </p:txBody>
      </p:sp>
      <p:sp>
        <p:nvSpPr>
          <p:cNvPr id="20" name="Rounded Rectangle 19"/>
          <p:cNvSpPr/>
          <p:nvPr/>
        </p:nvSpPr>
        <p:spPr>
          <a:xfrm>
            <a:off x="502920"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22" name="TextBox 21"/>
          <p:cNvSpPr txBox="1"/>
          <p:nvPr/>
        </p:nvSpPr>
        <p:spPr>
          <a:xfrm>
            <a:off x="667512"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150 veh/h on every approach.</a:t>
            </a:r>
          </a:p>
        </p:txBody>
      </p:sp>
      <p:sp>
        <p:nvSpPr>
          <p:cNvPr id="23" name="Rounded Rectangle 22"/>
          <p:cNvSpPr/>
          <p:nvPr/>
        </p:nvSpPr>
        <p:spPr>
          <a:xfrm>
            <a:off x="3346704"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1296"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25" name="TextBox 24"/>
          <p:cNvSpPr txBox="1"/>
          <p:nvPr/>
        </p:nvSpPr>
        <p:spPr>
          <a:xfrm>
            <a:off x="3511296"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heavy axis swaps every 20 min. 680 against 200 veh/h.</a:t>
            </a:r>
          </a:p>
        </p:txBody>
      </p:sp>
      <p:sp>
        <p:nvSpPr>
          <p:cNvPr id="26" name="Rounded Rectangle 25"/>
          <p:cNvSpPr/>
          <p:nvPr/>
        </p:nvSpPr>
        <p:spPr>
          <a:xfrm>
            <a:off x="6190488"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28" name="TextBox 27"/>
          <p:cNvSpPr txBox="1"/>
          <p:nvPr/>
        </p:nvSpPr>
        <p:spPr>
          <a:xfrm>
            <a:off x="6355079"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North–south 720 veh/h. East–west 180.</a:t>
            </a:r>
          </a:p>
        </p:txBody>
      </p:sp>
      <p:sp>
        <p:nvSpPr>
          <p:cNvPr id="29" name="Rounded Rectangle 28"/>
          <p:cNvSpPr/>
          <p:nvPr/>
        </p:nvSpPr>
        <p:spPr>
          <a:xfrm>
            <a:off x="9034272"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1" name="TextBox 30"/>
          <p:cNvSpPr txBox="1"/>
          <p:nvPr/>
        </p:nvSpPr>
        <p:spPr>
          <a:xfrm>
            <a:off x="9198864"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480 veh/h on every approach.</a:t>
            </a:r>
          </a:p>
        </p:txBody>
      </p:sp>
      <p:sp>
        <p:nvSpPr>
          <p:cNvPr id="32" name="TextBox 31"/>
          <p:cNvSpPr txBox="1"/>
          <p:nvPr/>
        </p:nvSpPr>
        <p:spPr>
          <a:xfrm>
            <a:off x="502920" y="5029200"/>
            <a:ext cx="11228832"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Compared with Fixed time, Webster, Actuated, Max-pressure, Count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 SET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Less fuel than fixed time, every scenario</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Fuel per completed vehicle against fixed time. 5 paired seeds. Bootstrap 95% intervals.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06</a:t>
            </a:r>
          </a:p>
        </p:txBody>
      </p:sp>
      <p:sp>
        <p:nvSpPr>
          <p:cNvPr id="8" name="Rounded Rectangle 7"/>
          <p:cNvSpPr/>
          <p:nvPr/>
        </p:nvSpPr>
        <p:spPr>
          <a:xfrm>
            <a:off x="502920"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11" name="TextBox 10"/>
          <p:cNvSpPr txBox="1"/>
          <p:nvPr/>
        </p:nvSpPr>
        <p:spPr>
          <a:xfrm>
            <a:off x="704088"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1.9</a:t>
            </a:r>
            <a:r>
              <a:rPr sz="1800" b="1" i="0">
                <a:solidFill>
                  <a:srgbClr val="1B6B5A"/>
                </a:solidFill>
                <a:latin typeface="Georgia"/>
                <a:ea typeface="Georgia"/>
                <a:cs typeface="Georgia"/>
              </a:rPr>
              <a:t>%</a:t>
            </a:r>
          </a:p>
        </p:txBody>
      </p:sp>
      <p:sp>
        <p:nvSpPr>
          <p:cNvPr id="12" name="TextBox 11"/>
          <p:cNvSpPr txBox="1"/>
          <p:nvPr/>
        </p:nvSpPr>
        <p:spPr>
          <a:xfrm>
            <a:off x="704088"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0.5  –  3.0</a:t>
            </a:r>
          </a:p>
        </p:txBody>
      </p:sp>
      <p:sp>
        <p:nvSpPr>
          <p:cNvPr id="13" name="TextBox 12"/>
          <p:cNvSpPr txBox="1"/>
          <p:nvPr/>
        </p:nvSpPr>
        <p:spPr>
          <a:xfrm>
            <a:off x="704088"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14" name="Rectangle 13"/>
          <p:cNvSpPr/>
          <p:nvPr/>
        </p:nvSpPr>
        <p:spPr>
          <a:xfrm>
            <a:off x="722376"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2376" y="4709160"/>
            <a:ext cx="2258568"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46704"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66160"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47872"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19" name="TextBox 18"/>
          <p:cNvSpPr txBox="1"/>
          <p:nvPr/>
        </p:nvSpPr>
        <p:spPr>
          <a:xfrm>
            <a:off x="3547872"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1.1</a:t>
            </a:r>
            <a:r>
              <a:rPr sz="1800" b="1" i="0">
                <a:solidFill>
                  <a:srgbClr val="1B6B5A"/>
                </a:solidFill>
                <a:latin typeface="Georgia"/>
                <a:ea typeface="Georgia"/>
                <a:cs typeface="Georgia"/>
              </a:rPr>
              <a:t>%</a:t>
            </a:r>
          </a:p>
        </p:txBody>
      </p:sp>
      <p:sp>
        <p:nvSpPr>
          <p:cNvPr id="20" name="TextBox 19"/>
          <p:cNvSpPr txBox="1"/>
          <p:nvPr/>
        </p:nvSpPr>
        <p:spPr>
          <a:xfrm>
            <a:off x="3547872"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0.6  –  1.7</a:t>
            </a:r>
          </a:p>
        </p:txBody>
      </p:sp>
      <p:sp>
        <p:nvSpPr>
          <p:cNvPr id="21" name="TextBox 20"/>
          <p:cNvSpPr txBox="1"/>
          <p:nvPr/>
        </p:nvSpPr>
        <p:spPr>
          <a:xfrm>
            <a:off x="3547872"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22" name="Rectangle 21"/>
          <p:cNvSpPr/>
          <p:nvPr/>
        </p:nvSpPr>
        <p:spPr>
          <a:xfrm>
            <a:off x="3566160"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66160" y="4709160"/>
            <a:ext cx="1289076"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90488"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9944"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5"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27" name="TextBox 26"/>
          <p:cNvSpPr txBox="1"/>
          <p:nvPr/>
        </p:nvSpPr>
        <p:spPr>
          <a:xfrm>
            <a:off x="6391655"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0.7</a:t>
            </a:r>
            <a:r>
              <a:rPr sz="1800" b="1" i="0">
                <a:solidFill>
                  <a:srgbClr val="1B6B5A"/>
                </a:solidFill>
                <a:latin typeface="Georgia"/>
                <a:ea typeface="Georgia"/>
                <a:cs typeface="Georgia"/>
              </a:rPr>
              <a:t>%</a:t>
            </a:r>
          </a:p>
        </p:txBody>
      </p:sp>
      <p:sp>
        <p:nvSpPr>
          <p:cNvPr id="28" name="TextBox 27"/>
          <p:cNvSpPr txBox="1"/>
          <p:nvPr/>
        </p:nvSpPr>
        <p:spPr>
          <a:xfrm>
            <a:off x="6391655"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-0.4  –  1.8</a:t>
            </a:r>
          </a:p>
        </p:txBody>
      </p:sp>
      <p:sp>
        <p:nvSpPr>
          <p:cNvPr id="29" name="TextBox 28"/>
          <p:cNvSpPr txBox="1"/>
          <p:nvPr/>
        </p:nvSpPr>
        <p:spPr>
          <a:xfrm>
            <a:off x="6391655"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30" name="Rectangle 29"/>
          <p:cNvSpPr/>
          <p:nvPr/>
        </p:nvSpPr>
        <p:spPr>
          <a:xfrm>
            <a:off x="6409944"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9944" y="4709160"/>
            <a:ext cx="813082"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034272"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53728"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35440"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5" name="TextBox 34"/>
          <p:cNvSpPr txBox="1"/>
          <p:nvPr/>
        </p:nvSpPr>
        <p:spPr>
          <a:xfrm>
            <a:off x="9235440"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0.3</a:t>
            </a:r>
            <a:r>
              <a:rPr sz="1800" b="1" i="0">
                <a:solidFill>
                  <a:srgbClr val="1B6B5A"/>
                </a:solidFill>
                <a:latin typeface="Georgia"/>
                <a:ea typeface="Georgia"/>
                <a:cs typeface="Georgia"/>
              </a:rPr>
              <a:t>%</a:t>
            </a:r>
          </a:p>
        </p:txBody>
      </p:sp>
      <p:sp>
        <p:nvSpPr>
          <p:cNvPr id="36" name="TextBox 35"/>
          <p:cNvSpPr txBox="1"/>
          <p:nvPr/>
        </p:nvSpPr>
        <p:spPr>
          <a:xfrm>
            <a:off x="9235440"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-0.4  –  1.0</a:t>
            </a:r>
          </a:p>
        </p:txBody>
      </p:sp>
      <p:sp>
        <p:nvSpPr>
          <p:cNvPr id="37" name="TextBox 36"/>
          <p:cNvSpPr txBox="1"/>
          <p:nvPr/>
        </p:nvSpPr>
        <p:spPr>
          <a:xfrm>
            <a:off x="9235440"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38" name="Rectangle 37"/>
          <p:cNvSpPr/>
          <p:nvPr/>
        </p:nvSpPr>
        <p:spPr>
          <a:xfrm>
            <a:off x="9253728"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253728" y="4709160"/>
            <a:ext cx="348315"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2920" y="5349240"/>
            <a:ext cx="11228832" cy="914400"/>
          </a:xfrm>
          <a:prstGeom prst="roundRect">
            <a:avLst>
              <a:gd name="adj" fmla="val 8000"/>
            </a:avLst>
          </a:prstGeom>
          <a:solidFill>
            <a:srgbClr val="E5F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8952" y="5596128"/>
            <a:ext cx="10771632" cy="457200"/>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All four scenarios are flagged OK. Tuning stopped before these seeds were scored.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HONEST COMPARISON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The gap that matters is versus fixed time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Against a strong adaptive controller, fuel weighting is a smaller edge. It is still on the same side every time.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07</a:t>
            </a:r>
          </a:p>
        </p:txBody>
      </p:sp>
      <p:sp>
        <p:nvSpPr>
          <p:cNvPr id="8" name="Rectangle 7"/>
          <p:cNvSpPr/>
          <p:nvPr/>
        </p:nvSpPr>
        <p:spPr>
          <a:xfrm>
            <a:off x="502920" y="1572768"/>
            <a:ext cx="11228832" cy="420624"/>
          </a:xfrm>
          <a:prstGeom prst="rect">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72768"/>
            <a:ext cx="2185415"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Scenario</a:t>
            </a:r>
          </a:p>
        </p:txBody>
      </p:sp>
      <p:sp>
        <p:nvSpPr>
          <p:cNvPr id="10" name="TextBox 9"/>
          <p:cNvSpPr txBox="1"/>
          <p:nvPr/>
        </p:nvSpPr>
        <p:spPr>
          <a:xfrm>
            <a:off x="2944368" y="1572768"/>
            <a:ext cx="2075688"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fixed</a:t>
            </a:r>
          </a:p>
        </p:txBody>
      </p:sp>
      <p:sp>
        <p:nvSpPr>
          <p:cNvPr id="11" name="TextBox 10"/>
          <p:cNvSpPr txBox="1"/>
          <p:nvPr/>
        </p:nvSpPr>
        <p:spPr>
          <a:xfrm>
            <a:off x="5166359" y="1572768"/>
            <a:ext cx="2075688"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actuated</a:t>
            </a:r>
          </a:p>
        </p:txBody>
      </p:sp>
      <p:sp>
        <p:nvSpPr>
          <p:cNvPr id="12" name="TextBox 11"/>
          <p:cNvSpPr txBox="1"/>
          <p:nvPr/>
        </p:nvSpPr>
        <p:spPr>
          <a:xfrm>
            <a:off x="7388351" y="1572768"/>
            <a:ext cx="2185415"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max-pressure</a:t>
            </a:r>
          </a:p>
        </p:txBody>
      </p:sp>
      <p:sp>
        <p:nvSpPr>
          <p:cNvPr id="13" name="TextBox 12"/>
          <p:cNvSpPr txBox="1"/>
          <p:nvPr/>
        </p:nvSpPr>
        <p:spPr>
          <a:xfrm>
            <a:off x="9720071" y="1572768"/>
            <a:ext cx="1975103"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count only</a:t>
            </a:r>
          </a:p>
        </p:txBody>
      </p:sp>
      <p:sp>
        <p:nvSpPr>
          <p:cNvPr id="14" name="Rectangle 13"/>
          <p:cNvSpPr/>
          <p:nvPr/>
        </p:nvSpPr>
        <p:spPr>
          <a:xfrm>
            <a:off x="502920" y="1993392"/>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1993392"/>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Low demand</a:t>
            </a:r>
          </a:p>
        </p:txBody>
      </p:sp>
      <p:sp>
        <p:nvSpPr>
          <p:cNvPr id="16" name="TextBox 15"/>
          <p:cNvSpPr txBox="1"/>
          <p:nvPr/>
        </p:nvSpPr>
        <p:spPr>
          <a:xfrm>
            <a:off x="2907791" y="2066544"/>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14.1%</a:t>
            </a:r>
          </a:p>
        </p:txBody>
      </p:sp>
      <p:sp>
        <p:nvSpPr>
          <p:cNvPr id="17" name="TextBox 16"/>
          <p:cNvSpPr txBox="1"/>
          <p:nvPr/>
        </p:nvSpPr>
        <p:spPr>
          <a:xfrm>
            <a:off x="2889503" y="2359152"/>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12.7 – 15.5</a:t>
            </a:r>
          </a:p>
        </p:txBody>
      </p:sp>
      <p:sp>
        <p:nvSpPr>
          <p:cNvPr id="18" name="TextBox 17"/>
          <p:cNvSpPr txBox="1"/>
          <p:nvPr/>
        </p:nvSpPr>
        <p:spPr>
          <a:xfrm>
            <a:off x="5129783" y="2066544"/>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10.7%</a:t>
            </a:r>
          </a:p>
        </p:txBody>
      </p:sp>
      <p:sp>
        <p:nvSpPr>
          <p:cNvPr id="19" name="TextBox 18"/>
          <p:cNvSpPr txBox="1"/>
          <p:nvPr/>
        </p:nvSpPr>
        <p:spPr>
          <a:xfrm>
            <a:off x="5111495" y="2359152"/>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9.0 – 12.4</a:t>
            </a:r>
          </a:p>
        </p:txBody>
      </p:sp>
      <p:sp>
        <p:nvSpPr>
          <p:cNvPr id="20" name="TextBox 19"/>
          <p:cNvSpPr txBox="1"/>
          <p:nvPr/>
        </p:nvSpPr>
        <p:spPr>
          <a:xfrm>
            <a:off x="7351775" y="2066544"/>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1.9%</a:t>
            </a:r>
          </a:p>
        </p:txBody>
      </p:sp>
      <p:sp>
        <p:nvSpPr>
          <p:cNvPr id="21" name="TextBox 20"/>
          <p:cNvSpPr txBox="1"/>
          <p:nvPr/>
        </p:nvSpPr>
        <p:spPr>
          <a:xfrm>
            <a:off x="7333488" y="2359152"/>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0.5 – 3.0</a:t>
            </a:r>
          </a:p>
        </p:txBody>
      </p:sp>
      <p:sp>
        <p:nvSpPr>
          <p:cNvPr id="22" name="TextBox 21"/>
          <p:cNvSpPr txBox="1"/>
          <p:nvPr/>
        </p:nvSpPr>
        <p:spPr>
          <a:xfrm>
            <a:off x="9683495" y="2066544"/>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2.0%</a:t>
            </a:r>
          </a:p>
        </p:txBody>
      </p:sp>
      <p:sp>
        <p:nvSpPr>
          <p:cNvPr id="23" name="TextBox 22"/>
          <p:cNvSpPr txBox="1"/>
          <p:nvPr/>
        </p:nvSpPr>
        <p:spPr>
          <a:xfrm>
            <a:off x="9665207" y="2359152"/>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0.5 – 3.3</a:t>
            </a:r>
          </a:p>
        </p:txBody>
      </p:sp>
      <p:sp>
        <p:nvSpPr>
          <p:cNvPr id="24" name="Rectangle 23"/>
          <p:cNvSpPr/>
          <p:nvPr/>
        </p:nvSpPr>
        <p:spPr>
          <a:xfrm>
            <a:off x="502920" y="2706624"/>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2706624"/>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Shifting</a:t>
            </a:r>
          </a:p>
        </p:txBody>
      </p:sp>
      <p:sp>
        <p:nvSpPr>
          <p:cNvPr id="26" name="TextBox 25"/>
          <p:cNvSpPr txBox="1"/>
          <p:nvPr/>
        </p:nvSpPr>
        <p:spPr>
          <a:xfrm>
            <a:off x="2907791" y="2779776"/>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13.2%</a:t>
            </a:r>
          </a:p>
        </p:txBody>
      </p:sp>
      <p:sp>
        <p:nvSpPr>
          <p:cNvPr id="27" name="TextBox 26"/>
          <p:cNvSpPr txBox="1"/>
          <p:nvPr/>
        </p:nvSpPr>
        <p:spPr>
          <a:xfrm>
            <a:off x="2889503" y="3072384"/>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12.3 – 14.3</a:t>
            </a:r>
          </a:p>
        </p:txBody>
      </p:sp>
      <p:sp>
        <p:nvSpPr>
          <p:cNvPr id="28" name="TextBox 27"/>
          <p:cNvSpPr txBox="1"/>
          <p:nvPr/>
        </p:nvSpPr>
        <p:spPr>
          <a:xfrm>
            <a:off x="5129783" y="2779776"/>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29" name="TextBox 28"/>
          <p:cNvSpPr txBox="1"/>
          <p:nvPr/>
        </p:nvSpPr>
        <p:spPr>
          <a:xfrm>
            <a:off x="5111495" y="3072384"/>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7.8 – 9.2</a:t>
            </a:r>
          </a:p>
        </p:txBody>
      </p:sp>
      <p:sp>
        <p:nvSpPr>
          <p:cNvPr id="30" name="TextBox 29"/>
          <p:cNvSpPr txBox="1"/>
          <p:nvPr/>
        </p:nvSpPr>
        <p:spPr>
          <a:xfrm>
            <a:off x="7351775" y="2779776"/>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1.1%</a:t>
            </a:r>
          </a:p>
        </p:txBody>
      </p:sp>
      <p:sp>
        <p:nvSpPr>
          <p:cNvPr id="31" name="TextBox 30"/>
          <p:cNvSpPr txBox="1"/>
          <p:nvPr/>
        </p:nvSpPr>
        <p:spPr>
          <a:xfrm>
            <a:off x="7333488" y="3072384"/>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0.6 – 1.7</a:t>
            </a:r>
          </a:p>
        </p:txBody>
      </p:sp>
      <p:sp>
        <p:nvSpPr>
          <p:cNvPr id="32" name="TextBox 31"/>
          <p:cNvSpPr txBox="1"/>
          <p:nvPr/>
        </p:nvSpPr>
        <p:spPr>
          <a:xfrm>
            <a:off x="9683495" y="2779776"/>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0.1%</a:t>
            </a:r>
          </a:p>
        </p:txBody>
      </p:sp>
      <p:sp>
        <p:nvSpPr>
          <p:cNvPr id="33" name="TextBox 32"/>
          <p:cNvSpPr txBox="1"/>
          <p:nvPr/>
        </p:nvSpPr>
        <p:spPr>
          <a:xfrm>
            <a:off x="9665207" y="3072384"/>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0.6</a:t>
            </a:r>
          </a:p>
        </p:txBody>
      </p:sp>
      <p:sp>
        <p:nvSpPr>
          <p:cNvPr id="34" name="Rectangle 33"/>
          <p:cNvSpPr/>
          <p:nvPr/>
        </p:nvSpPr>
        <p:spPr>
          <a:xfrm>
            <a:off x="502920" y="3419856"/>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3419856"/>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Peak, one-sided</a:t>
            </a:r>
          </a:p>
        </p:txBody>
      </p:sp>
      <p:sp>
        <p:nvSpPr>
          <p:cNvPr id="36" name="TextBox 35"/>
          <p:cNvSpPr txBox="1"/>
          <p:nvPr/>
        </p:nvSpPr>
        <p:spPr>
          <a:xfrm>
            <a:off x="2907791" y="3493008"/>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17.5%</a:t>
            </a:r>
          </a:p>
        </p:txBody>
      </p:sp>
      <p:sp>
        <p:nvSpPr>
          <p:cNvPr id="37" name="TextBox 36"/>
          <p:cNvSpPr txBox="1"/>
          <p:nvPr/>
        </p:nvSpPr>
        <p:spPr>
          <a:xfrm>
            <a:off x="2889503" y="3785616"/>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14.4 – 20.3</a:t>
            </a:r>
          </a:p>
        </p:txBody>
      </p:sp>
      <p:sp>
        <p:nvSpPr>
          <p:cNvPr id="38" name="TextBox 37"/>
          <p:cNvSpPr txBox="1"/>
          <p:nvPr/>
        </p:nvSpPr>
        <p:spPr>
          <a:xfrm>
            <a:off x="5129783" y="3493008"/>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39" name="TextBox 38"/>
          <p:cNvSpPr txBox="1"/>
          <p:nvPr/>
        </p:nvSpPr>
        <p:spPr>
          <a:xfrm>
            <a:off x="5111495" y="3785616"/>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6.6 – 10.0</a:t>
            </a:r>
          </a:p>
        </p:txBody>
      </p:sp>
      <p:sp>
        <p:nvSpPr>
          <p:cNvPr id="40" name="TextBox 39"/>
          <p:cNvSpPr txBox="1"/>
          <p:nvPr/>
        </p:nvSpPr>
        <p:spPr>
          <a:xfrm>
            <a:off x="7351775" y="3493008"/>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0.7%</a:t>
            </a:r>
          </a:p>
        </p:txBody>
      </p:sp>
      <p:sp>
        <p:nvSpPr>
          <p:cNvPr id="41" name="TextBox 40"/>
          <p:cNvSpPr txBox="1"/>
          <p:nvPr/>
        </p:nvSpPr>
        <p:spPr>
          <a:xfrm>
            <a:off x="7333488" y="3785616"/>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1.8</a:t>
            </a:r>
          </a:p>
        </p:txBody>
      </p:sp>
      <p:sp>
        <p:nvSpPr>
          <p:cNvPr id="42" name="TextBox 41"/>
          <p:cNvSpPr txBox="1"/>
          <p:nvPr/>
        </p:nvSpPr>
        <p:spPr>
          <a:xfrm>
            <a:off x="9683495" y="3493008"/>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0.9%</a:t>
            </a:r>
          </a:p>
        </p:txBody>
      </p:sp>
      <p:sp>
        <p:nvSpPr>
          <p:cNvPr id="43" name="TextBox 42"/>
          <p:cNvSpPr txBox="1"/>
          <p:nvPr/>
        </p:nvSpPr>
        <p:spPr>
          <a:xfrm>
            <a:off x="9665207" y="3785616"/>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-0.1 – 1.8</a:t>
            </a:r>
          </a:p>
        </p:txBody>
      </p:sp>
      <p:sp>
        <p:nvSpPr>
          <p:cNvPr id="44" name="Rectangle 43"/>
          <p:cNvSpPr/>
          <p:nvPr/>
        </p:nvSpPr>
        <p:spPr>
          <a:xfrm>
            <a:off x="502920" y="4133087"/>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4133087"/>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Balanced</a:t>
            </a:r>
          </a:p>
        </p:txBody>
      </p:sp>
      <p:sp>
        <p:nvSpPr>
          <p:cNvPr id="46" name="TextBox 45"/>
          <p:cNvSpPr txBox="1"/>
          <p:nvPr/>
        </p:nvSpPr>
        <p:spPr>
          <a:xfrm>
            <a:off x="2907791" y="4206240"/>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7.9%</a:t>
            </a:r>
          </a:p>
        </p:txBody>
      </p:sp>
      <p:sp>
        <p:nvSpPr>
          <p:cNvPr id="47" name="TextBox 46"/>
          <p:cNvSpPr txBox="1"/>
          <p:nvPr/>
        </p:nvSpPr>
        <p:spPr>
          <a:xfrm>
            <a:off x="2889503" y="4498848"/>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9.1</a:t>
            </a:r>
          </a:p>
        </p:txBody>
      </p:sp>
      <p:sp>
        <p:nvSpPr>
          <p:cNvPr id="48" name="TextBox 47"/>
          <p:cNvSpPr txBox="1"/>
          <p:nvPr/>
        </p:nvSpPr>
        <p:spPr>
          <a:xfrm>
            <a:off x="5129783" y="4206240"/>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4.8%</a:t>
            </a:r>
          </a:p>
        </p:txBody>
      </p:sp>
      <p:sp>
        <p:nvSpPr>
          <p:cNvPr id="49" name="TextBox 48"/>
          <p:cNvSpPr txBox="1"/>
          <p:nvPr/>
        </p:nvSpPr>
        <p:spPr>
          <a:xfrm>
            <a:off x="5111495" y="4498848"/>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4.3 – 5.3</a:t>
            </a:r>
          </a:p>
        </p:txBody>
      </p:sp>
      <p:sp>
        <p:nvSpPr>
          <p:cNvPr id="50" name="TextBox 49"/>
          <p:cNvSpPr txBox="1"/>
          <p:nvPr/>
        </p:nvSpPr>
        <p:spPr>
          <a:xfrm>
            <a:off x="7351775" y="4206240"/>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0.3%</a:t>
            </a:r>
          </a:p>
        </p:txBody>
      </p:sp>
      <p:sp>
        <p:nvSpPr>
          <p:cNvPr id="51" name="TextBox 50"/>
          <p:cNvSpPr txBox="1"/>
          <p:nvPr/>
        </p:nvSpPr>
        <p:spPr>
          <a:xfrm>
            <a:off x="7333488" y="4498848"/>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1.0</a:t>
            </a:r>
          </a:p>
        </p:txBody>
      </p:sp>
      <p:sp>
        <p:nvSpPr>
          <p:cNvPr id="52" name="TextBox 51"/>
          <p:cNvSpPr txBox="1"/>
          <p:nvPr/>
        </p:nvSpPr>
        <p:spPr>
          <a:xfrm>
            <a:off x="9683495" y="4206240"/>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0.4%</a:t>
            </a:r>
          </a:p>
        </p:txBody>
      </p:sp>
      <p:sp>
        <p:nvSpPr>
          <p:cNvPr id="53" name="TextBox 52"/>
          <p:cNvSpPr txBox="1"/>
          <p:nvPr/>
        </p:nvSpPr>
        <p:spPr>
          <a:xfrm>
            <a:off x="9665207" y="4498848"/>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-0.8 – 1.2</a:t>
            </a:r>
          </a:p>
        </p:txBody>
      </p:sp>
      <p:sp>
        <p:nvSpPr>
          <p:cNvPr id="54" name="Rounded Rectangle 53"/>
          <p:cNvSpPr/>
          <p:nvPr/>
        </p:nvSpPr>
        <p:spPr>
          <a:xfrm>
            <a:off x="502920" y="4992624"/>
            <a:ext cx="11228832" cy="868680"/>
          </a:xfrm>
          <a:prstGeom prst="roundRect">
            <a:avLst>
              <a:gd name="adj" fmla="val 8000"/>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2376" y="5120640"/>
            <a:ext cx="10817352" cy="6400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Versus max-pressure: 0.3% to 1.9%. Versus the count-only ablation: 0.1% to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CHANGES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Shorter waits, shorter queues, less CO₂</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Low demand, the tuning scenario, on the locked test. Completed trips match fixed time (603).</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08</a:t>
            </a:r>
          </a:p>
        </p:txBody>
      </p:sp>
      <p:sp>
        <p:nvSpPr>
          <p:cNvPr id="8" name="Rounded Rectangle 7"/>
          <p:cNvSpPr/>
          <p:nvPr/>
        </p:nvSpPr>
        <p:spPr>
          <a:xfrm>
            <a:off x="502920"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 VEHICLE</a:t>
            </a:r>
          </a:p>
        </p:txBody>
      </p:sp>
      <p:sp>
        <p:nvSpPr>
          <p:cNvPr id="10" name="TextBox 9"/>
          <p:cNvSpPr txBox="1"/>
          <p:nvPr/>
        </p:nvSpPr>
        <p:spPr>
          <a:xfrm>
            <a:off x="667512"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0.136 L</a:t>
            </a:r>
          </a:p>
        </p:txBody>
      </p:sp>
      <p:sp>
        <p:nvSpPr>
          <p:cNvPr id="11" name="TextBox 10"/>
          <p:cNvSpPr txBox="1"/>
          <p:nvPr/>
        </p:nvSpPr>
        <p:spPr>
          <a:xfrm>
            <a:off x="667512"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0.117 L</a:t>
            </a:r>
          </a:p>
        </p:txBody>
      </p:sp>
      <p:sp>
        <p:nvSpPr>
          <p:cNvPr id="12" name="TextBox 11"/>
          <p:cNvSpPr txBox="1"/>
          <p:nvPr/>
        </p:nvSpPr>
        <p:spPr>
          <a:xfrm>
            <a:off x="667512"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3" name="Rounded Rectangle 12"/>
          <p:cNvSpPr/>
          <p:nvPr/>
        </p:nvSpPr>
        <p:spPr>
          <a:xfrm>
            <a:off x="3346704"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WAIT</a:t>
            </a:r>
          </a:p>
        </p:txBody>
      </p:sp>
      <p:sp>
        <p:nvSpPr>
          <p:cNvPr id="15" name="TextBox 14"/>
          <p:cNvSpPr txBox="1"/>
          <p:nvPr/>
        </p:nvSpPr>
        <p:spPr>
          <a:xfrm>
            <a:off x="3511296"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27.2 s</a:t>
            </a:r>
          </a:p>
        </p:txBody>
      </p:sp>
      <p:sp>
        <p:nvSpPr>
          <p:cNvPr id="16" name="TextBox 15"/>
          <p:cNvSpPr txBox="1"/>
          <p:nvPr/>
        </p:nvSpPr>
        <p:spPr>
          <a:xfrm>
            <a:off x="3511296"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16.2 s</a:t>
            </a:r>
          </a:p>
        </p:txBody>
      </p:sp>
      <p:sp>
        <p:nvSpPr>
          <p:cNvPr id="17" name="TextBox 16"/>
          <p:cNvSpPr txBox="1"/>
          <p:nvPr/>
        </p:nvSpPr>
        <p:spPr>
          <a:xfrm>
            <a:off x="3511296"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8" name="Rounded Rectangle 17"/>
          <p:cNvSpPr/>
          <p:nvPr/>
        </p:nvSpPr>
        <p:spPr>
          <a:xfrm>
            <a:off x="6190488"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QUEUE</a:t>
            </a:r>
          </a:p>
        </p:txBody>
      </p:sp>
      <p:sp>
        <p:nvSpPr>
          <p:cNvPr id="20" name="TextBox 19"/>
          <p:cNvSpPr txBox="1"/>
          <p:nvPr/>
        </p:nvSpPr>
        <p:spPr>
          <a:xfrm>
            <a:off x="6355079"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4.4 veh</a:t>
            </a:r>
          </a:p>
        </p:txBody>
      </p:sp>
      <p:sp>
        <p:nvSpPr>
          <p:cNvPr id="21" name="TextBox 20"/>
          <p:cNvSpPr txBox="1"/>
          <p:nvPr/>
        </p:nvSpPr>
        <p:spPr>
          <a:xfrm>
            <a:off x="6355079"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2.7 veh</a:t>
            </a:r>
          </a:p>
        </p:txBody>
      </p:sp>
      <p:sp>
        <p:nvSpPr>
          <p:cNvPr id="22" name="TextBox 21"/>
          <p:cNvSpPr txBox="1"/>
          <p:nvPr/>
        </p:nvSpPr>
        <p:spPr>
          <a:xfrm>
            <a:off x="6355079"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3" name="Rounded Rectangle 22"/>
          <p:cNvSpPr/>
          <p:nvPr/>
        </p:nvSpPr>
        <p:spPr>
          <a:xfrm>
            <a:off x="9034272"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CO₂</a:t>
            </a:r>
          </a:p>
        </p:txBody>
      </p:sp>
      <p:sp>
        <p:nvSpPr>
          <p:cNvPr id="25" name="TextBox 24"/>
          <p:cNvSpPr txBox="1"/>
          <p:nvPr/>
        </p:nvSpPr>
        <p:spPr>
          <a:xfrm>
            <a:off x="9198864"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205 kg</a:t>
            </a:r>
          </a:p>
        </p:txBody>
      </p:sp>
      <p:sp>
        <p:nvSpPr>
          <p:cNvPr id="26" name="TextBox 25"/>
          <p:cNvSpPr txBox="1"/>
          <p:nvPr/>
        </p:nvSpPr>
        <p:spPr>
          <a:xfrm>
            <a:off x="9198864"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176 kg</a:t>
            </a:r>
          </a:p>
        </p:txBody>
      </p:sp>
      <p:sp>
        <p:nvSpPr>
          <p:cNvPr id="27" name="TextBox 26"/>
          <p:cNvSpPr txBox="1"/>
          <p:nvPr/>
        </p:nvSpPr>
        <p:spPr>
          <a:xfrm>
            <a:off x="9198864"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8" name="TextBox 27"/>
          <p:cNvSpPr txBox="1"/>
          <p:nvPr/>
        </p:nvSpPr>
        <p:spPr>
          <a:xfrm>
            <a:off x="502920" y="3767328"/>
            <a:ext cx="1122883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WAITING TIME ON THE OTHER SCENARIOS</a:t>
            </a:r>
          </a:p>
        </p:txBody>
      </p:sp>
      <p:sp>
        <p:nvSpPr>
          <p:cNvPr id="29" name="Rounded Rectangle 28"/>
          <p:cNvSpPr/>
          <p:nvPr/>
        </p:nvSpPr>
        <p:spPr>
          <a:xfrm>
            <a:off x="502920" y="4096512"/>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096512"/>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Shifting</a:t>
            </a:r>
          </a:p>
        </p:txBody>
      </p:sp>
      <p:sp>
        <p:nvSpPr>
          <p:cNvPr id="31" name="TextBox 30"/>
          <p:cNvSpPr txBox="1"/>
          <p:nvPr/>
        </p:nvSpPr>
        <p:spPr>
          <a:xfrm>
            <a:off x="3611880" y="4096512"/>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32.2 s   to   18.8 s</a:t>
            </a:r>
          </a:p>
        </p:txBody>
      </p:sp>
      <p:sp>
        <p:nvSpPr>
          <p:cNvPr id="32" name="TextBox 31"/>
          <p:cNvSpPr txBox="1"/>
          <p:nvPr/>
        </p:nvSpPr>
        <p:spPr>
          <a:xfrm>
            <a:off x="8549640" y="4096512"/>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42% shorter</a:t>
            </a:r>
          </a:p>
        </p:txBody>
      </p:sp>
      <p:sp>
        <p:nvSpPr>
          <p:cNvPr id="33" name="Rounded Rectangle 32"/>
          <p:cNvSpPr/>
          <p:nvPr/>
        </p:nvSpPr>
        <p:spPr>
          <a:xfrm>
            <a:off x="502920" y="4754880"/>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754880"/>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Peak, one-sided</a:t>
            </a:r>
          </a:p>
        </p:txBody>
      </p:sp>
      <p:sp>
        <p:nvSpPr>
          <p:cNvPr id="35" name="TextBox 34"/>
          <p:cNvSpPr txBox="1"/>
          <p:nvPr/>
        </p:nvSpPr>
        <p:spPr>
          <a:xfrm>
            <a:off x="3611880" y="4754880"/>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37.0 s   to   18.4 s</a:t>
            </a:r>
          </a:p>
        </p:txBody>
      </p:sp>
      <p:sp>
        <p:nvSpPr>
          <p:cNvPr id="36" name="TextBox 35"/>
          <p:cNvSpPr txBox="1"/>
          <p:nvPr/>
        </p:nvSpPr>
        <p:spPr>
          <a:xfrm>
            <a:off x="8549640" y="4754880"/>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50% shorter</a:t>
            </a:r>
          </a:p>
        </p:txBody>
      </p:sp>
      <p:sp>
        <p:nvSpPr>
          <p:cNvPr id="37" name="Rounded Rectangle 36"/>
          <p:cNvSpPr/>
          <p:nvPr/>
        </p:nvSpPr>
        <p:spPr>
          <a:xfrm>
            <a:off x="502920" y="5413248"/>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413248"/>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Balanced</a:t>
            </a:r>
          </a:p>
        </p:txBody>
      </p:sp>
      <p:sp>
        <p:nvSpPr>
          <p:cNvPr id="39" name="TextBox 38"/>
          <p:cNvSpPr txBox="1"/>
          <p:nvPr/>
        </p:nvSpPr>
        <p:spPr>
          <a:xfrm>
            <a:off x="3611880" y="5413248"/>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30.0 s   to   21.8 s</a:t>
            </a:r>
          </a:p>
        </p:txBody>
      </p:sp>
      <p:sp>
        <p:nvSpPr>
          <p:cNvPr id="40" name="TextBox 39"/>
          <p:cNvSpPr txBox="1"/>
          <p:nvPr/>
        </p:nvSpPr>
        <p:spPr>
          <a:xfrm>
            <a:off x="8549640" y="5413248"/>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27% shorter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THE CAMERA MISSES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At the highest miss rate, mean fuel is under the reference lines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3 seeds. Vehicles are dropped from the detector at random.</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09</a:t>
            </a:r>
          </a:p>
        </p:txBody>
      </p:sp>
      <p:sp>
        <p:nvSpPr>
          <p:cNvPr id="8" name="Rounded Rectangle 7"/>
          <p:cNvSpPr/>
          <p:nvPr/>
        </p:nvSpPr>
        <p:spPr>
          <a:xfrm>
            <a:off x="502920"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0% missed</a:t>
            </a:r>
          </a:p>
        </p:txBody>
      </p:sp>
      <p:sp>
        <p:nvSpPr>
          <p:cNvPr id="10" name="TextBox 9"/>
          <p:cNvSpPr txBox="1"/>
          <p:nvPr/>
        </p:nvSpPr>
        <p:spPr>
          <a:xfrm>
            <a:off x="667512"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1" name="TextBox 10"/>
          <p:cNvSpPr txBox="1"/>
          <p:nvPr/>
        </p:nvSpPr>
        <p:spPr>
          <a:xfrm>
            <a:off x="667512"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667512"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3" name="Rounded Rectangle 12"/>
          <p:cNvSpPr/>
          <p:nvPr/>
        </p:nvSpPr>
        <p:spPr>
          <a:xfrm>
            <a:off x="3346704"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10% missed</a:t>
            </a:r>
          </a:p>
        </p:txBody>
      </p:sp>
      <p:sp>
        <p:nvSpPr>
          <p:cNvPr id="15" name="TextBox 14"/>
          <p:cNvSpPr txBox="1"/>
          <p:nvPr/>
        </p:nvSpPr>
        <p:spPr>
          <a:xfrm>
            <a:off x="3511296"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6" name="TextBox 15"/>
          <p:cNvSpPr txBox="1"/>
          <p:nvPr/>
        </p:nvSpPr>
        <p:spPr>
          <a:xfrm>
            <a:off x="3511296"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7" name="TextBox 16"/>
          <p:cNvSpPr txBox="1"/>
          <p:nvPr/>
        </p:nvSpPr>
        <p:spPr>
          <a:xfrm>
            <a:off x="3511296"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8" name="Rounded Rectangle 17"/>
          <p:cNvSpPr/>
          <p:nvPr/>
        </p:nvSpPr>
        <p:spPr>
          <a:xfrm>
            <a:off x="6190488"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20% missed</a:t>
            </a:r>
          </a:p>
        </p:txBody>
      </p:sp>
      <p:sp>
        <p:nvSpPr>
          <p:cNvPr id="20" name="TextBox 19"/>
          <p:cNvSpPr txBox="1"/>
          <p:nvPr/>
        </p:nvSpPr>
        <p:spPr>
          <a:xfrm>
            <a:off x="6355079"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1" name="TextBox 20"/>
          <p:cNvSpPr txBox="1"/>
          <p:nvPr/>
        </p:nvSpPr>
        <p:spPr>
          <a:xfrm>
            <a:off x="6355079"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2" name="TextBox 21"/>
          <p:cNvSpPr txBox="1"/>
          <p:nvPr/>
        </p:nvSpPr>
        <p:spPr>
          <a:xfrm>
            <a:off x="6355079"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3" name="Rounded Rectangle 22"/>
          <p:cNvSpPr/>
          <p:nvPr/>
        </p:nvSpPr>
        <p:spPr>
          <a:xfrm>
            <a:off x="9034272"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30% missed</a:t>
            </a:r>
          </a:p>
        </p:txBody>
      </p:sp>
      <p:sp>
        <p:nvSpPr>
          <p:cNvPr id="25" name="TextBox 24"/>
          <p:cNvSpPr txBox="1"/>
          <p:nvPr/>
        </p:nvSpPr>
        <p:spPr>
          <a:xfrm>
            <a:off x="9198864"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6" name="TextBox 25"/>
          <p:cNvSpPr txBox="1"/>
          <p:nvPr/>
        </p:nvSpPr>
        <p:spPr>
          <a:xfrm>
            <a:off x="9198864"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7" name="TextBox 26"/>
          <p:cNvSpPr txBox="1"/>
          <p:nvPr/>
        </p:nvSpPr>
        <p:spPr>
          <a:xfrm>
            <a:off x="9198864"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8" name="Rounded Rectangle 27"/>
          <p:cNvSpPr/>
          <p:nvPr/>
        </p:nvSpPr>
        <p:spPr>
          <a:xfrm>
            <a:off x="502920" y="4069080"/>
            <a:ext cx="11228832" cy="2148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224528"/>
            <a:ext cx="7315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SAME SEEDS, NO MISSES</a:t>
            </a:r>
          </a:p>
        </p:txBody>
      </p:sp>
      <p:sp>
        <p:nvSpPr>
          <p:cNvPr id="30" name="TextBox 29"/>
          <p:cNvSpPr txBox="1"/>
          <p:nvPr/>
        </p:nvSpPr>
        <p:spPr>
          <a:xfrm>
            <a:off x="77724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0.123 L</a:t>
            </a:r>
          </a:p>
        </p:txBody>
      </p:sp>
      <p:sp>
        <p:nvSpPr>
          <p:cNvPr id="31" name="TextBox 30"/>
          <p:cNvSpPr txBox="1"/>
          <p:nvPr/>
        </p:nvSpPr>
        <p:spPr>
          <a:xfrm>
            <a:off x="77724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XtraFlow</a:t>
            </a:r>
          </a:p>
        </p:txBody>
      </p:sp>
      <p:sp>
        <p:nvSpPr>
          <p:cNvPr id="32" name="TextBox 31"/>
          <p:cNvSpPr txBox="1"/>
          <p:nvPr/>
        </p:nvSpPr>
        <p:spPr>
          <a:xfrm>
            <a:off x="406908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0.136 L</a:t>
            </a:r>
          </a:p>
        </p:txBody>
      </p:sp>
      <p:sp>
        <p:nvSpPr>
          <p:cNvPr id="33" name="TextBox 32"/>
          <p:cNvSpPr txBox="1"/>
          <p:nvPr/>
        </p:nvSpPr>
        <p:spPr>
          <a:xfrm>
            <a:off x="406908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Actuated</a:t>
            </a:r>
          </a:p>
        </p:txBody>
      </p:sp>
      <p:sp>
        <p:nvSpPr>
          <p:cNvPr id="34" name="TextBox 33"/>
          <p:cNvSpPr txBox="1"/>
          <p:nvPr/>
        </p:nvSpPr>
        <p:spPr>
          <a:xfrm>
            <a:off x="777240" y="5532120"/>
            <a:ext cx="10680192" cy="45720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Every miss level on this slide has lower mean fuel than every reference line. Noise-model point (see noise_model.json) is 0.125 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WHERE IT DOES NOT TRANSFER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Grid results are not loaded</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 2×2 network. The controller was tuned for a single junction.</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10</a:t>
            </a:r>
          </a:p>
        </p:txBody>
      </p:sp>
      <p:sp>
        <p:nvSpPr>
          <p:cNvPr id="8" name="Rounded Rectangle 7"/>
          <p:cNvSpPr/>
          <p:nvPr/>
        </p:nvSpPr>
        <p:spPr>
          <a:xfrm>
            <a:off x="502920" y="1600200"/>
            <a:ext cx="3633216" cy="30632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783080"/>
            <a:ext cx="3221735" cy="274320"/>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ACTUATED</a:t>
            </a:r>
          </a:p>
        </p:txBody>
      </p:sp>
      <p:sp>
        <p:nvSpPr>
          <p:cNvPr id="10" name="TextBox 9"/>
          <p:cNvSpPr txBox="1"/>
          <p:nvPr/>
        </p:nvSpPr>
        <p:spPr>
          <a:xfrm>
            <a:off x="722376" y="2240280"/>
            <a:ext cx="3221735" cy="64008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a:t>
            </a:r>
          </a:p>
        </p:txBody>
      </p:sp>
      <p:sp>
        <p:nvSpPr>
          <p:cNvPr id="11" name="TextBox 10"/>
          <p:cNvSpPr txBox="1"/>
          <p:nvPr/>
        </p:nvSpPr>
        <p:spPr>
          <a:xfrm>
            <a:off x="722376" y="2926080"/>
            <a:ext cx="3221735"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722376" y="3794760"/>
            <a:ext cx="3221735"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Lowest fuel here</a:t>
            </a:r>
          </a:p>
        </p:txBody>
      </p:sp>
      <p:sp>
        <p:nvSpPr>
          <p:cNvPr id="13" name="Rounded Rectangle 12"/>
          <p:cNvSpPr/>
          <p:nvPr/>
        </p:nvSpPr>
        <p:spPr>
          <a:xfrm>
            <a:off x="4300728" y="1600200"/>
            <a:ext cx="3633216" cy="30632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0184" y="1783080"/>
            <a:ext cx="3221735" cy="274320"/>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FIXED TIME</a:t>
            </a:r>
          </a:p>
        </p:txBody>
      </p:sp>
      <p:sp>
        <p:nvSpPr>
          <p:cNvPr id="15" name="TextBox 14"/>
          <p:cNvSpPr txBox="1"/>
          <p:nvPr/>
        </p:nvSpPr>
        <p:spPr>
          <a:xfrm>
            <a:off x="4520184" y="2240280"/>
            <a:ext cx="3221735" cy="64008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a:t>
            </a:r>
          </a:p>
        </p:txBody>
      </p:sp>
      <p:sp>
        <p:nvSpPr>
          <p:cNvPr id="16" name="TextBox 15"/>
          <p:cNvSpPr txBox="1"/>
          <p:nvPr/>
        </p:nvSpPr>
        <p:spPr>
          <a:xfrm>
            <a:off x="4520184" y="2926080"/>
            <a:ext cx="3221735"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7" name="TextBox 16"/>
          <p:cNvSpPr txBox="1"/>
          <p:nvPr/>
        </p:nvSpPr>
        <p:spPr>
          <a:xfrm>
            <a:off x="4520184" y="3794760"/>
            <a:ext cx="3221735"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The simple baseline</a:t>
            </a:r>
          </a:p>
        </p:txBody>
      </p:sp>
      <p:sp>
        <p:nvSpPr>
          <p:cNvPr id="18" name="Rounded Rectangle 17"/>
          <p:cNvSpPr/>
          <p:nvPr/>
        </p:nvSpPr>
        <p:spPr>
          <a:xfrm>
            <a:off x="8098536" y="1600200"/>
            <a:ext cx="3633216" cy="3063240"/>
          </a:xfrm>
          <a:prstGeom prst="roundRect">
            <a:avLst>
              <a:gd name="adj" fmla="val 8000"/>
            </a:avLst>
          </a:prstGeom>
          <a:solidFill>
            <a:srgbClr val="FBEEE8"/>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7992" y="1783080"/>
            <a:ext cx="3221735" cy="274320"/>
          </a:xfrm>
          <a:prstGeom prst="rect">
            <a:avLst/>
          </a:prstGeom>
          <a:noFill/>
        </p:spPr>
        <p:txBody>
          <a:bodyPr wrap="square" lIns="0" rIns="0" tIns="0" bIns="0" anchor="t"/>
          <a:lstStyle/>
          <a:p>
            <a:pPr algn="l">
              <a:spcBef>
                <a:spcPts val="0"/>
              </a:spcBef>
              <a:spcAft>
                <a:spcPts val="0"/>
              </a:spcAft>
            </a:pPr>
            <a:r>
              <a:rPr sz="1300" b="1" i="0">
                <a:solidFill>
                  <a:srgbClr val="B84E2A"/>
                </a:solidFill>
                <a:latin typeface="Calibri"/>
                <a:ea typeface="Calibri"/>
                <a:cs typeface="Calibri"/>
              </a:rPr>
              <a:t>XTRAFLOW</a:t>
            </a:r>
          </a:p>
        </p:txBody>
      </p:sp>
      <p:sp>
        <p:nvSpPr>
          <p:cNvPr id="20" name="TextBox 19"/>
          <p:cNvSpPr txBox="1"/>
          <p:nvPr/>
        </p:nvSpPr>
        <p:spPr>
          <a:xfrm>
            <a:off x="8317992" y="2240280"/>
            <a:ext cx="3221735" cy="640080"/>
          </a:xfrm>
          <a:prstGeom prst="rect">
            <a:avLst/>
          </a:prstGeom>
          <a:noFill/>
        </p:spPr>
        <p:txBody>
          <a:bodyPr wrap="square" lIns="0" rIns="0" tIns="0" bIns="0" anchor="t"/>
          <a:lstStyle/>
          <a:p>
            <a:pPr algn="l">
              <a:spcBef>
                <a:spcPts val="0"/>
              </a:spcBef>
              <a:spcAft>
                <a:spcPts val="0"/>
              </a:spcAft>
            </a:pPr>
            <a:r>
              <a:rPr sz="3200" b="1" i="0">
                <a:solidFill>
                  <a:srgbClr val="B84E2A"/>
                </a:solidFill>
                <a:latin typeface="Georgia"/>
                <a:ea typeface="Georgia"/>
                <a:cs typeface="Georgia"/>
              </a:rPr>
              <a:t>—</a:t>
            </a:r>
          </a:p>
        </p:txBody>
      </p:sp>
      <p:sp>
        <p:nvSpPr>
          <p:cNvPr id="21" name="TextBox 20"/>
          <p:cNvSpPr txBox="1"/>
          <p:nvPr/>
        </p:nvSpPr>
        <p:spPr>
          <a:xfrm>
            <a:off x="8317992" y="2926080"/>
            <a:ext cx="3221735"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2" name="TextBox 21"/>
          <p:cNvSpPr txBox="1"/>
          <p:nvPr/>
        </p:nvSpPr>
        <p:spPr>
          <a:xfrm>
            <a:off x="8317992" y="3794760"/>
            <a:ext cx="3221735"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Higher fuel</a:t>
            </a:r>
          </a:p>
        </p:txBody>
      </p:sp>
      <p:sp>
        <p:nvSpPr>
          <p:cNvPr id="23" name="Rounded Rectangle 22"/>
          <p:cNvSpPr/>
          <p:nvPr/>
        </p:nvSpPr>
        <p:spPr>
          <a:xfrm>
            <a:off x="502920" y="4846320"/>
            <a:ext cx="11228832" cy="137160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8" y="5029200"/>
            <a:ext cx="10680192" cy="32004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DO NOT SCALE THIS TO A CITY</a:t>
            </a:r>
          </a:p>
        </p:txBody>
      </p:sp>
      <p:sp>
        <p:nvSpPr>
          <p:cNvPr id="25" name="TextBox 24"/>
          <p:cNvSpPr txBox="1"/>
          <p:nvPr/>
        </p:nvSpPr>
        <p:spPr>
          <a:xfrm>
            <a:off x="795528" y="5394960"/>
            <a:ext cx="10680192" cy="594360"/>
          </a:xfrm>
          <a:prstGeom prst="rect">
            <a:avLst/>
          </a:prstGeom>
          <a:noFill/>
        </p:spPr>
        <p:txBody>
          <a:bodyPr wrap="square" lIns="0" rIns="0" tIns="0" bIns="0" anchor="t"/>
          <a:lstStyle/>
          <a:p>
            <a:pPr algn="l">
              <a:spcBef>
                <a:spcPts val="0"/>
              </a:spcBef>
              <a:spcAft>
                <a:spcPts val="0"/>
              </a:spcAft>
            </a:pPr>
            <a:r>
              <a:rPr sz="1600" b="0" i="0">
                <a:solidFill>
                  <a:srgbClr val="FFFFFF"/>
                </a:solidFill>
                <a:latin typeface="Calibri"/>
                <a:ea typeface="Calibri"/>
                <a:cs typeface="Calibri"/>
              </a:rPr>
              <a:t>The coordination variant did not reduce fuel. A corridor needs its own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BESIDE THE HEADLINE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Safety: decrease. Emissions: ci overlap.</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Both lines are the verdict fields in the loaded JSON, not a fixed sentence.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11</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SAFETY</a:t>
            </a:r>
          </a:p>
        </p:txBody>
      </p:sp>
      <p:sp>
        <p:nvSpPr>
          <p:cNvPr id="11" name="TextBox 10"/>
          <p:cNvSpPr txBox="1"/>
          <p:nvPr/>
        </p:nvSpPr>
        <p:spPr>
          <a:xfrm>
            <a:off x="722376"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decrease</a:t>
            </a:r>
          </a:p>
        </p:txBody>
      </p:sp>
      <p:sp>
        <p:nvSpPr>
          <p:cNvPr id="12" name="TextBox 11"/>
          <p:cNvSpPr txBox="1"/>
          <p:nvPr/>
        </p:nvSpPr>
        <p:spPr>
          <a:xfrm>
            <a:off x="722376"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Time-to-collision conflicts from the simulator. A model count, not a crash record.</a:t>
            </a:r>
          </a:p>
        </p:txBody>
      </p:sp>
      <p:sp>
        <p:nvSpPr>
          <p:cNvPr id="13" name="Rounded Rectangle 12"/>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8472"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0184"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EMISSIONS MODEL</a:t>
            </a:r>
          </a:p>
        </p:txBody>
      </p:sp>
      <p:sp>
        <p:nvSpPr>
          <p:cNvPr id="16" name="TextBox 15"/>
          <p:cNvSpPr txBox="1"/>
          <p:nvPr/>
        </p:nvSpPr>
        <p:spPr>
          <a:xfrm>
            <a:off x="4520184"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ci overlap</a:t>
            </a:r>
          </a:p>
        </p:txBody>
      </p:sp>
      <p:sp>
        <p:nvSpPr>
          <p:cNvPr id="17" name="TextBox 16"/>
          <p:cNvSpPr txBox="1"/>
          <p:nvPr/>
        </p:nvSpPr>
        <p:spPr>
          <a:xfrm>
            <a:off x="4520184"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Primary model 13.9%. Alternate model 13.7%. The reduction shrinks. It does not flip.</a:t>
            </a:r>
          </a:p>
        </p:txBody>
      </p:sp>
      <p:sp>
        <p:nvSpPr>
          <p:cNvPr id="18" name="Rounded Rectangle 17"/>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36280" y="1828800"/>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7992"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PERCEPTION</a:t>
            </a:r>
          </a:p>
        </p:txBody>
      </p:sp>
      <p:sp>
        <p:nvSpPr>
          <p:cNvPr id="21" name="TextBox 20"/>
          <p:cNvSpPr txBox="1"/>
          <p:nvPr/>
        </p:nvSpPr>
        <p:spPr>
          <a:xfrm>
            <a:off x="8317992"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Assumed</a:t>
            </a:r>
          </a:p>
        </p:txBody>
      </p:sp>
      <p:sp>
        <p:nvSpPr>
          <p:cNvPr id="22" name="TextBox 21"/>
          <p:cNvSpPr txBox="1"/>
          <p:nvPr/>
        </p:nvSpPr>
        <p:spPr>
          <a:xfrm>
            <a:off x="8317992"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No field video in this run. Smoke-test miss rate 15%. Treat detector error as assumed until labels exist.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SCALING</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Per vehicle is measured. Per year is a range.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wide bar is the assumed city size, not uncertainty in the junction test.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12</a:t>
            </a:r>
          </a:p>
        </p:txBody>
      </p:sp>
      <p:sp>
        <p:nvSpPr>
          <p:cNvPr id="8" name="Rounded Rectangle 7"/>
          <p:cNvSpPr/>
          <p:nvPr/>
        </p:nvSpPr>
        <p:spPr>
          <a:xfrm>
            <a:off x="502920" y="1572768"/>
            <a:ext cx="6720840"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719072"/>
            <a:ext cx="62179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MEASURED ON </a:t>
            </a:r>
          </a:p>
        </p:txBody>
      </p:sp>
      <p:sp>
        <p:nvSpPr>
          <p:cNvPr id="10" name="TextBox 9"/>
          <p:cNvSpPr txBox="1"/>
          <p:nvPr/>
        </p:nvSpPr>
        <p:spPr>
          <a:xfrm>
            <a:off x="758952" y="2029968"/>
            <a:ext cx="6217920" cy="59436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0.001</a:t>
            </a:r>
            <a:r>
              <a:rPr sz="1600" b="0" i="0">
                <a:solidFill>
                  <a:srgbClr val="1A2834"/>
                </a:solidFill>
                <a:latin typeface="Calibri"/>
                <a:ea typeface="Calibri"/>
                <a:cs typeface="Calibri"/>
              </a:rPr>
              <a:t>  L saved / vehicle</a:t>
            </a:r>
          </a:p>
        </p:txBody>
      </p:sp>
      <p:sp>
        <p:nvSpPr>
          <p:cNvPr id="11" name="TextBox 10"/>
          <p:cNvSpPr txBox="1"/>
          <p:nvPr/>
        </p:nvSpPr>
        <p:spPr>
          <a:xfrm>
            <a:off x="758952" y="2788920"/>
            <a:ext cx="6217920" cy="45720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5th – 95th percentile of that mean: 0.001 – 0.002 L</a:t>
            </a:r>
          </a:p>
        </p:txBody>
      </p:sp>
      <p:sp>
        <p:nvSpPr>
          <p:cNvPr id="12" name="TextBox 11"/>
          <p:cNvSpPr txBox="1"/>
          <p:nvPr/>
        </p:nvSpPr>
        <p:spPr>
          <a:xfrm>
            <a:off x="502920" y="3703320"/>
            <a:ext cx="66751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THAT SAVING IS MULTIPLIED OUT</a:t>
            </a:r>
          </a:p>
        </p:txBody>
      </p:sp>
      <p:sp>
        <p:nvSpPr>
          <p:cNvPr id="13" name="Rectangle 12"/>
          <p:cNvSpPr/>
          <p:nvPr/>
        </p:nvSpPr>
        <p:spPr>
          <a:xfrm>
            <a:off x="502920" y="4041648"/>
            <a:ext cx="6720840" cy="128016"/>
          </a:xfrm>
          <a:prstGeom prst="rect">
            <a:avLst/>
          </a:prstGeom>
          <a:solidFill>
            <a:srgbClr val="C5D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9803" y="3913632"/>
            <a:ext cx="54864"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370832"/>
            <a:ext cx="292608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0.3 million litres</a:t>
            </a:r>
          </a:p>
        </p:txBody>
      </p:sp>
      <p:sp>
        <p:nvSpPr>
          <p:cNvPr id="16" name="TextBox 15"/>
          <p:cNvSpPr txBox="1"/>
          <p:nvPr/>
        </p:nvSpPr>
        <p:spPr>
          <a:xfrm>
            <a:off x="4297680" y="4370832"/>
            <a:ext cx="2926080" cy="256032"/>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Calibri"/>
                <a:ea typeface="Calibri"/>
                <a:cs typeface="Calibri"/>
              </a:rPr>
              <a:t>2.7 million litres</a:t>
            </a:r>
          </a:p>
        </p:txBody>
      </p:sp>
      <p:sp>
        <p:nvSpPr>
          <p:cNvPr id="17" name="TextBox 16"/>
          <p:cNvSpPr txBox="1"/>
          <p:nvPr/>
        </p:nvSpPr>
        <p:spPr>
          <a:xfrm>
            <a:off x="502920" y="4754880"/>
            <a:ext cx="6675120" cy="438912"/>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0.9 million litres</a:t>
            </a:r>
          </a:p>
        </p:txBody>
      </p:sp>
      <p:sp>
        <p:nvSpPr>
          <p:cNvPr id="18" name="TextBox 17"/>
          <p:cNvSpPr txBox="1"/>
          <p:nvPr/>
        </p:nvSpPr>
        <p:spPr>
          <a:xfrm>
            <a:off x="502920" y="5193792"/>
            <a:ext cx="6675120" cy="25603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median of the scaled draws</a:t>
            </a:r>
          </a:p>
        </p:txBody>
      </p:sp>
      <p:sp>
        <p:nvSpPr>
          <p:cNvPr id="19" name="TextBox 18"/>
          <p:cNvSpPr txBox="1"/>
          <p:nvPr/>
        </p:nvSpPr>
        <p:spPr>
          <a:xfrm>
            <a:off x="502920" y="5532120"/>
            <a:ext cx="6675120" cy="5029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CO₂ median 2,296 tonnes   ·   629 tonnes – 6,640 tonnes</a:t>
            </a:r>
          </a:p>
        </p:txBody>
      </p:sp>
      <p:sp>
        <p:nvSpPr>
          <p:cNvPr id="20" name="Rounded Rectangle 19"/>
          <p:cNvSpPr/>
          <p:nvPr/>
        </p:nvSpPr>
        <p:spPr>
          <a:xfrm>
            <a:off x="7406640" y="1572768"/>
            <a:ext cx="4325112" cy="4526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6096" y="1737360"/>
            <a:ext cx="3931920"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Why the bar is wide</a:t>
            </a:r>
          </a:p>
        </p:txBody>
      </p:sp>
      <p:sp>
        <p:nvSpPr>
          <p:cNvPr id="22" name="TextBox 21"/>
          <p:cNvSpPr txBox="1"/>
          <p:nvPr/>
        </p:nvSpPr>
        <p:spPr>
          <a:xfrm>
            <a:off x="7626096" y="2468880"/>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Junctions</a:t>
            </a:r>
          </a:p>
        </p:txBody>
      </p:sp>
      <p:sp>
        <p:nvSpPr>
          <p:cNvPr id="23" name="TextBox 22"/>
          <p:cNvSpPr txBox="1"/>
          <p:nvPr/>
        </p:nvSpPr>
        <p:spPr>
          <a:xfrm>
            <a:off x="7626096" y="2670048"/>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50  –  1,000</a:t>
            </a:r>
          </a:p>
        </p:txBody>
      </p:sp>
      <p:sp>
        <p:nvSpPr>
          <p:cNvPr id="24" name="TextBox 23"/>
          <p:cNvSpPr txBox="1"/>
          <p:nvPr/>
        </p:nvSpPr>
        <p:spPr>
          <a:xfrm>
            <a:off x="7626096" y="3127248"/>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Vehicles / peak hour</a:t>
            </a:r>
          </a:p>
        </p:txBody>
      </p:sp>
      <p:sp>
        <p:nvSpPr>
          <p:cNvPr id="25" name="TextBox 24"/>
          <p:cNvSpPr txBox="1"/>
          <p:nvPr/>
        </p:nvSpPr>
        <p:spPr>
          <a:xfrm>
            <a:off x="7626096" y="3328416"/>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800  –  2,200</a:t>
            </a:r>
          </a:p>
        </p:txBody>
      </p:sp>
      <p:sp>
        <p:nvSpPr>
          <p:cNvPr id="26" name="TextBox 25"/>
          <p:cNvSpPr txBox="1"/>
          <p:nvPr/>
        </p:nvSpPr>
        <p:spPr>
          <a:xfrm>
            <a:off x="7626096" y="3785615"/>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Peak hours / day</a:t>
            </a:r>
          </a:p>
        </p:txBody>
      </p:sp>
      <p:sp>
        <p:nvSpPr>
          <p:cNvPr id="27" name="TextBox 26"/>
          <p:cNvSpPr txBox="1"/>
          <p:nvPr/>
        </p:nvSpPr>
        <p:spPr>
          <a:xfrm>
            <a:off x="7626096" y="3986783"/>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3  –  7</a:t>
            </a:r>
          </a:p>
        </p:txBody>
      </p:sp>
      <p:sp>
        <p:nvSpPr>
          <p:cNvPr id="28" name="TextBox 27"/>
          <p:cNvSpPr txBox="1"/>
          <p:nvPr/>
        </p:nvSpPr>
        <p:spPr>
          <a:xfrm>
            <a:off x="7626096" y="4443983"/>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Days / year</a:t>
            </a:r>
          </a:p>
        </p:txBody>
      </p:sp>
      <p:sp>
        <p:nvSpPr>
          <p:cNvPr id="29" name="TextBox 28"/>
          <p:cNvSpPr txBox="1"/>
          <p:nvPr/>
        </p:nvSpPr>
        <p:spPr>
          <a:xfrm>
            <a:off x="7626096" y="4645151"/>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250  –  330</a:t>
            </a:r>
          </a:p>
        </p:txBody>
      </p:sp>
      <p:sp>
        <p:nvSpPr>
          <p:cNvPr id="30" name="TextBox 29"/>
          <p:cNvSpPr txBox="1"/>
          <p:nvPr/>
        </p:nvSpPr>
        <p:spPr>
          <a:xfrm>
            <a:off x="7626096" y="5349240"/>
            <a:ext cx="3886200" cy="5486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Rupee value uses a placeholder price,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777240"/>
            <a:ext cx="73152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BEFORE A STRONGER CLAIM</a:t>
            </a:r>
          </a:p>
        </p:txBody>
      </p:sp>
      <p:sp>
        <p:nvSpPr>
          <p:cNvPr id="4" name="TextBox 3"/>
          <p:cNvSpPr txBox="1"/>
          <p:nvPr/>
        </p:nvSpPr>
        <p:spPr>
          <a:xfrm>
            <a:off x="685800" y="1097280"/>
            <a:ext cx="10058400" cy="731520"/>
          </a:xfrm>
          <a:prstGeom prst="rect">
            <a:avLst/>
          </a:prstGeom>
          <a:noFill/>
        </p:spPr>
        <p:txBody>
          <a:bodyPr wrap="square" lIns="0" rIns="0" tIns="0" bIns="0" anchor="t"/>
          <a:lstStyle/>
          <a:p>
            <a:pPr algn="l">
              <a:spcBef>
                <a:spcPts val="0"/>
              </a:spcBef>
              <a:spcAft>
                <a:spcPts val="0"/>
              </a:spcAft>
            </a:pPr>
            <a:r>
              <a:rPr sz="4400" b="1" i="0">
                <a:solidFill>
                  <a:srgbClr val="FFFFFF"/>
                </a:solidFill>
                <a:latin typeface="Georgia"/>
                <a:ea typeface="Georgia"/>
                <a:cs typeface="Georgia"/>
              </a:rPr>
              <a:t>XtraFlow</a:t>
            </a:r>
          </a:p>
        </p:txBody>
      </p:sp>
      <p:sp>
        <p:nvSpPr>
          <p:cNvPr id="5" name="TextBox 4"/>
          <p:cNvSpPr txBox="1"/>
          <p:nvPr/>
        </p:nvSpPr>
        <p:spPr>
          <a:xfrm>
            <a:off x="713232" y="1920240"/>
            <a:ext cx="9601200" cy="640080"/>
          </a:xfrm>
          <a:prstGeom prst="rect">
            <a:avLst/>
          </a:prstGeom>
          <a:noFill/>
        </p:spPr>
        <p:txBody>
          <a:bodyPr wrap="square" lIns="0" rIns="0" tIns="0" bIns="0" anchor="t"/>
          <a:lstStyle/>
          <a:p>
            <a:pPr algn="l">
              <a:spcBef>
                <a:spcPts val="0"/>
              </a:spcBef>
              <a:spcAft>
                <a:spcPts val="0"/>
              </a:spcAft>
            </a:pPr>
            <a:r>
              <a:rPr sz="2400" b="0" i="0">
                <a:solidFill>
                  <a:srgbClr val="F0C26A"/>
                </a:solidFill>
                <a:latin typeface="Georgia"/>
                <a:ea typeface="Georgia"/>
                <a:cs typeface="Georgia"/>
              </a:rPr>
              <a:t>Smarter signals should burn less fuel.</a:t>
            </a:r>
          </a:p>
        </p:txBody>
      </p:sp>
      <p:sp>
        <p:nvSpPr>
          <p:cNvPr id="6" name="Rounded Rectangle 5"/>
          <p:cNvSpPr/>
          <p:nvPr/>
        </p:nvSpPr>
        <p:spPr>
          <a:xfrm>
            <a:off x="502920" y="2880360"/>
            <a:ext cx="3645407" cy="214884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01</a:t>
            </a:r>
          </a:p>
        </p:txBody>
      </p:sp>
      <p:sp>
        <p:nvSpPr>
          <p:cNvPr id="8" name="TextBox 7"/>
          <p:cNvSpPr txBox="1"/>
          <p:nvPr/>
        </p:nvSpPr>
        <p:spPr>
          <a:xfrm>
            <a:off x="704088"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Count the junction</a:t>
            </a:r>
          </a:p>
        </p:txBody>
      </p:sp>
      <p:sp>
        <p:nvSpPr>
          <p:cNvPr id="9" name="TextBox 8"/>
          <p:cNvSpPr txBox="1"/>
          <p:nvPr/>
        </p:nvSpPr>
        <p:spPr>
          <a:xfrm>
            <a:off x="704088" y="3977639"/>
            <a:ext cx="3261360" cy="82296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Replace the assumed flows with observed demand before quoting a site.</a:t>
            </a:r>
          </a:p>
        </p:txBody>
      </p:sp>
      <p:sp>
        <p:nvSpPr>
          <p:cNvPr id="10" name="Rounded Rectangle 9"/>
          <p:cNvSpPr/>
          <p:nvPr/>
        </p:nvSpPr>
        <p:spPr>
          <a:xfrm>
            <a:off x="4294632" y="2880360"/>
            <a:ext cx="3645407" cy="214884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5799"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02</a:t>
            </a:r>
          </a:p>
        </p:txBody>
      </p:sp>
      <p:sp>
        <p:nvSpPr>
          <p:cNvPr id="12" name="TextBox 11"/>
          <p:cNvSpPr txBox="1"/>
          <p:nvPr/>
        </p:nvSpPr>
        <p:spPr>
          <a:xfrm>
            <a:off x="4495799"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Film the queue</a:t>
            </a:r>
          </a:p>
        </p:txBody>
      </p:sp>
      <p:sp>
        <p:nvSpPr>
          <p:cNvPr id="13" name="TextBox 12"/>
          <p:cNvSpPr txBox="1"/>
          <p:nvPr/>
        </p:nvSpPr>
        <p:spPr>
          <a:xfrm>
            <a:off x="4495799" y="3977639"/>
            <a:ext cx="3261360" cy="82296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A real video replaces the assumed detector-error model.</a:t>
            </a:r>
          </a:p>
        </p:txBody>
      </p:sp>
      <p:sp>
        <p:nvSpPr>
          <p:cNvPr id="14" name="Rounded Rectangle 13"/>
          <p:cNvSpPr/>
          <p:nvPr/>
        </p:nvSpPr>
        <p:spPr>
          <a:xfrm>
            <a:off x="8086344" y="2880360"/>
            <a:ext cx="3645407" cy="214884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7512"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03</a:t>
            </a:r>
          </a:p>
        </p:txBody>
      </p:sp>
      <p:sp>
        <p:nvSpPr>
          <p:cNvPr id="16" name="TextBox 15"/>
          <p:cNvSpPr txBox="1"/>
          <p:nvPr/>
        </p:nvSpPr>
        <p:spPr>
          <a:xfrm>
            <a:off x="8287512"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Read the grid file</a:t>
            </a:r>
          </a:p>
        </p:txBody>
      </p:sp>
      <p:sp>
        <p:nvSpPr>
          <p:cNvPr id="17" name="TextBox 16"/>
          <p:cNvSpPr txBox="1"/>
          <p:nvPr/>
        </p:nvSpPr>
        <p:spPr>
          <a:xfrm>
            <a:off x="8287512" y="3977639"/>
            <a:ext cx="3261360" cy="82296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Quote a corridor result only from results/grid_results.json.</a:t>
            </a:r>
          </a:p>
        </p:txBody>
      </p:sp>
      <p:sp>
        <p:nvSpPr>
          <p:cNvPr id="18" name="TextBox 17"/>
          <p:cNvSpPr txBox="1"/>
          <p:nvPr/>
        </p:nvSpPr>
        <p:spPr>
          <a:xfrm>
            <a:off x="713232" y="5303520"/>
            <a:ext cx="9144000" cy="2743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github.com/couder-04/XtraFlow</a:t>
            </a:r>
          </a:p>
        </p:txBody>
      </p:sp>
      <p:sp>
        <p:nvSpPr>
          <p:cNvPr id="19" name="TextBox 18"/>
          <p:cNvSpPr txBox="1"/>
          <p:nvPr/>
        </p:nvSpPr>
        <p:spPr>
          <a:xfrm>
            <a:off x="713232" y="5669280"/>
            <a:ext cx="10058400" cy="365760"/>
          </a:xfrm>
          <a:prstGeom prst="rect">
            <a:avLst/>
          </a:prstGeom>
          <a:noFill/>
        </p:spPr>
        <p:txBody>
          <a:bodyPr wrap="square" lIns="0" rIns="0" tIns="0" bIns="0" anchor="t"/>
          <a:lstStyle/>
          <a:p>
            <a:pPr algn="l">
              <a:spcBef>
                <a:spcPts val="0"/>
              </a:spcBef>
              <a:spcAft>
                <a:spcPts val="0"/>
              </a:spcAft>
            </a:pPr>
            <a:r>
              <a:rPr sz="1400" b="0" i="0">
                <a:solidFill>
                  <a:srgbClr val="8A9BA8"/>
                </a:solidFill>
                <a:latin typeface="Calibri"/>
                <a:ea typeface="Calibri"/>
                <a:cs typeface="Calibri"/>
              </a:rPr>
              <a:t>Simulation-based estimate; assumed traffic mix</a:t>
            </a:r>
          </a:p>
        </p:txBody>
      </p:sp>
      <p:sp>
        <p:nvSpPr>
          <p:cNvPr id="20" name="TextBox 19"/>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XtraFlow    ·    Simulation-based estimate</a:t>
            </a:r>
          </a:p>
        </p:txBody>
      </p:sp>
      <p:sp>
        <p:nvSpPr>
          <p:cNvPr id="21" name="TextBox 20"/>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C9D4DC"/>
                </a:solidFill>
                <a:latin typeface="Georgia"/>
                <a:ea typeface="Georgia"/>
                <a:cs typeface="Georgia"/>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XtraFlow</dc:title>
  <dc:subject>Fuel-weighted traffic signals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Simulation-based estimate; assumed traffic mix</cp:category>
</cp:coreProperties>
</file>