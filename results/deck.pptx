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energy, not on travel time. Say out loud that this is a simulation before the first percentage. Scope: 5 test seeds (1–5). Source label: Simulation-based estimate; assumed traffic mix. Demo order later: results/demo/demo.mp4, then results/demo/yolo/yolo_story.mp4.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nothing in 01–03 for a short talk. Play both live clips. Robustness / grid / scaling are backup if asked.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mix is assumed until observed counts are supplied. Do not present it as a city survey. Idle-fuel ratios are measured in SUMO, not guessed.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hysteresis: the new phase must beat the current pressure by the tuned margin. Must-serve forces a switch so a waiting approach is not ignored. Weights file: results/weights.json. Tuned parameters: results/tuned_params.json, validation seeds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YOLO story after the side-by-side SUMO demo (yolo_story.mp4). Say clearly: YOLO is input feasibility; headline fuel numbers are oracle TEST. Do not claim a field detector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seed means identical demand. Test seeds are the ones stored in results/raw_runs.csv. Sublane use is the used_sublane field in results/sublane_fallback.json. RL note: Time cut. This zip is the 200000-step model. It was not scored on VALIDATION or TEST, so rl_ppo is not in raw_runs.csv.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headline vs best of fixed_tuned / actuated / queue_pressure / maxpressure is only 0.3–1.9% (n=5; Holm p=1). The 8–17% cuts are vs fixed / Webster / actuated. Published maxpressure ≡ queue_pressure (downstream was ~0); re-run after occupancy fix. Numbers are from results/headlines.json.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paired intervals on this slide from the loaded comparison table. Do not add a verdict that is not in those intervals. RL is a baseline trained with the budget in rl_selection.json.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 are means from results/tables/summary_mean_std.csv. The fuel percentage on the previous slide is the mean of paired percent cuts, which is not identical to the percent gap between these two means. Waiting cuts are percent gaps between means. Say that if someone mixes the two.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results/demo/demo.mp4 (or demo.gif) while presenting. Then advance to the YOLO story slide and play yolo_story.mp4. Say that the SUMO demo is qualitative; the headline numbers are on the previous slides.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results/demo/yolo/yolo_story.mp4 full-screen. Say: GO/WAIT is illustrative from detector counts; published fuel is oracle SUMO TEST. Next slide has mosaic + per-cam overlays if you want to linger.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Prefer yolo_story on the previous slide for the talk. Use mosaic or one overlay only if asked. Do not claim a synchronized field site.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Means are grouped from results/robustness.json. Do not describe the curve as flat unless the loaded means say so. The noise-model source field is empirical only when labels exist.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results/grid_results.json. If rows and summary_means are empty, say the grid was not scored. Label: simulation-based estimate; assumed traffic mix.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verdict comes from results/safety.json. Emission cross-check is HBEFA3 versus PHEMlight on a smaller seed set than the main test; quote both percentages. YOLO demo does not replace the oracle TEST claim.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per-vehicle litres. The annual figure multiplies that saving by the ranges on the right, Monte Carlo from config.yaml. The price in fuel.price_inr_per_L is a placeholder. Quote the extrapolation label: simulation-based estimate, not a deployment result.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three conditions. Demo order was: SUMO side-by-side, YOLO story, optional overlays. Do not end on the annual litre range. The headline comparison is in results/headlines.json.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C2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298448"/>
            <a:ext cx="9144000" cy="256032"/>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SIMULATION STUDY</a:t>
            </a:r>
          </a:p>
        </p:txBody>
      </p:sp>
      <p:sp>
        <p:nvSpPr>
          <p:cNvPr id="4" name="TextBox 3"/>
          <p:cNvSpPr txBox="1"/>
          <p:nvPr/>
        </p:nvSpPr>
        <p:spPr>
          <a:xfrm>
            <a:off x="685800" y="1627632"/>
            <a:ext cx="10058400" cy="868680"/>
          </a:xfrm>
          <a:prstGeom prst="rect">
            <a:avLst/>
          </a:prstGeom>
          <a:noFill/>
        </p:spPr>
        <p:txBody>
          <a:bodyPr wrap="square" lIns="0" rIns="0" tIns="0" bIns="0" anchor="t"/>
          <a:lstStyle/>
          <a:p>
            <a:pPr algn="l">
              <a:spcBef>
                <a:spcPts val="0"/>
              </a:spcBef>
              <a:spcAft>
                <a:spcPts val="0"/>
              </a:spcAft>
            </a:pPr>
            <a:r>
              <a:rPr sz="5400" b="1" i="0">
                <a:solidFill>
                  <a:srgbClr val="FFFFFF"/>
                </a:solidFill>
                <a:latin typeface="Georgia"/>
                <a:ea typeface="Georgia"/>
                <a:cs typeface="Georgia"/>
              </a:rPr>
              <a:t>XtraFlow</a:t>
            </a:r>
          </a:p>
        </p:txBody>
      </p:sp>
      <p:sp>
        <p:nvSpPr>
          <p:cNvPr id="5" name="Rectangle 4"/>
          <p:cNvSpPr/>
          <p:nvPr/>
        </p:nvSpPr>
        <p:spPr>
          <a:xfrm>
            <a:off x="731520" y="2578608"/>
            <a:ext cx="1965960" cy="32004"/>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788920"/>
            <a:ext cx="9144000" cy="457200"/>
          </a:xfrm>
          <a:prstGeom prst="rect">
            <a:avLst/>
          </a:prstGeom>
          <a:noFill/>
        </p:spPr>
        <p:txBody>
          <a:bodyPr wrap="square" lIns="0" rIns="0" tIns="0" bIns="0" anchor="t"/>
          <a:lstStyle/>
          <a:p>
            <a:pPr algn="l">
              <a:spcBef>
                <a:spcPts val="0"/>
              </a:spcBef>
              <a:spcAft>
                <a:spcPts val="0"/>
              </a:spcAft>
            </a:pPr>
            <a:r>
              <a:rPr sz="2600" b="0" i="0">
                <a:solidFill>
                  <a:srgbClr val="F0C26A"/>
                </a:solidFill>
                <a:latin typeface="Georgia"/>
                <a:ea typeface="Georgia"/>
                <a:cs typeface="Georgia"/>
              </a:rPr>
              <a:t>Fuel-weighted traffic signals</a:t>
            </a:r>
          </a:p>
        </p:txBody>
      </p:sp>
      <p:sp>
        <p:nvSpPr>
          <p:cNvPr id="7" name="TextBox 6"/>
          <p:cNvSpPr txBox="1"/>
          <p:nvPr/>
        </p:nvSpPr>
        <p:spPr>
          <a:xfrm>
            <a:off x="713232" y="3383280"/>
            <a:ext cx="8412480" cy="777240"/>
          </a:xfrm>
          <a:prstGeom prst="rect">
            <a:avLst/>
          </a:prstGeom>
          <a:noFill/>
        </p:spPr>
        <p:txBody>
          <a:bodyPr wrap="square" lIns="0" rIns="0" tIns="0" bIns="0" anchor="t"/>
          <a:lstStyle/>
          <a:p>
            <a:pPr algn="l">
              <a:spcBef>
                <a:spcPts val="0"/>
              </a:spcBef>
              <a:spcAft>
                <a:spcPts val="0"/>
              </a:spcAft>
            </a:pPr>
            <a:r>
              <a:rPr sz="1800" b="0" i="0">
                <a:solidFill>
                  <a:srgbClr val="C9D4DC"/>
                </a:solidFill>
                <a:latin typeface="Calibri"/>
                <a:ea typeface="Calibri"/>
                <a:cs typeface="Calibri"/>
              </a:rPr>
              <a:t>A locked comparison on mixed Indian traffic. Same demand, 8 controllers, 4 demand patterns. Not a field deployment. Live demos: SUMO side-by-side + YOLO camera clips.</a:t>
            </a:r>
          </a:p>
        </p:txBody>
      </p:sp>
      <p:sp>
        <p:nvSpPr>
          <p:cNvPr id="8" name="TextBox 7"/>
          <p:cNvSpPr txBox="1"/>
          <p:nvPr/>
        </p:nvSpPr>
        <p:spPr>
          <a:xfrm>
            <a:off x="713232" y="4709160"/>
            <a:ext cx="3017520" cy="457200"/>
          </a:xfrm>
          <a:prstGeom prst="rect">
            <a:avLst/>
          </a:prstGeom>
          <a:noFill/>
        </p:spPr>
        <p:txBody>
          <a:bodyPr wrap="square" lIns="0" rIns="0" tIns="0" bIns="0" anchor="t"/>
          <a:lstStyle/>
          <a:p>
            <a:pPr algn="l">
              <a:spcBef>
                <a:spcPts val="0"/>
              </a:spcBef>
              <a:spcAft>
                <a:spcPts val="0"/>
              </a:spcAft>
            </a:pPr>
            <a:r>
              <a:rPr sz="2800" b="1" i="0">
                <a:solidFill>
                  <a:srgbClr val="FFFFFF"/>
                </a:solidFill>
                <a:latin typeface="Georgia"/>
                <a:ea typeface="Georgia"/>
                <a:cs typeface="Georgia"/>
              </a:rPr>
              <a:t>4</a:t>
            </a:r>
          </a:p>
        </p:txBody>
      </p:sp>
      <p:sp>
        <p:nvSpPr>
          <p:cNvPr id="9" name="TextBox 8"/>
          <p:cNvSpPr txBox="1"/>
          <p:nvPr/>
        </p:nvSpPr>
        <p:spPr>
          <a:xfrm>
            <a:off x="713232" y="5193792"/>
            <a:ext cx="301752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scenarios</a:t>
            </a:r>
          </a:p>
        </p:txBody>
      </p:sp>
      <p:sp>
        <p:nvSpPr>
          <p:cNvPr id="10" name="TextBox 9"/>
          <p:cNvSpPr txBox="1"/>
          <p:nvPr/>
        </p:nvSpPr>
        <p:spPr>
          <a:xfrm>
            <a:off x="3913632" y="4709160"/>
            <a:ext cx="3017520" cy="457200"/>
          </a:xfrm>
          <a:prstGeom prst="rect">
            <a:avLst/>
          </a:prstGeom>
          <a:noFill/>
        </p:spPr>
        <p:txBody>
          <a:bodyPr wrap="square" lIns="0" rIns="0" tIns="0" bIns="0" anchor="t"/>
          <a:lstStyle/>
          <a:p>
            <a:pPr algn="l">
              <a:spcBef>
                <a:spcPts val="0"/>
              </a:spcBef>
              <a:spcAft>
                <a:spcPts val="0"/>
              </a:spcAft>
            </a:pPr>
            <a:r>
              <a:rPr sz="2800" b="1" i="0">
                <a:solidFill>
                  <a:srgbClr val="FFFFFF"/>
                </a:solidFill>
                <a:latin typeface="Georgia"/>
                <a:ea typeface="Georgia"/>
                <a:cs typeface="Georgia"/>
              </a:rPr>
              <a:t>5</a:t>
            </a:r>
          </a:p>
        </p:txBody>
      </p:sp>
      <p:sp>
        <p:nvSpPr>
          <p:cNvPr id="11" name="TextBox 10"/>
          <p:cNvSpPr txBox="1"/>
          <p:nvPr/>
        </p:nvSpPr>
        <p:spPr>
          <a:xfrm>
            <a:off x="3913632" y="5193792"/>
            <a:ext cx="301752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test seeds, scored once</a:t>
            </a:r>
          </a:p>
        </p:txBody>
      </p:sp>
      <p:sp>
        <p:nvSpPr>
          <p:cNvPr id="12" name="TextBox 11"/>
          <p:cNvSpPr txBox="1"/>
          <p:nvPr/>
        </p:nvSpPr>
        <p:spPr>
          <a:xfrm>
            <a:off x="7114032" y="4709160"/>
            <a:ext cx="3017520" cy="457200"/>
          </a:xfrm>
          <a:prstGeom prst="rect">
            <a:avLst/>
          </a:prstGeom>
          <a:noFill/>
        </p:spPr>
        <p:txBody>
          <a:bodyPr wrap="square" lIns="0" rIns="0" tIns="0" bIns="0" anchor="t"/>
          <a:lstStyle/>
          <a:p>
            <a:pPr algn="l">
              <a:spcBef>
                <a:spcPts val="0"/>
              </a:spcBef>
              <a:spcAft>
                <a:spcPts val="0"/>
              </a:spcAft>
            </a:pPr>
            <a:r>
              <a:rPr sz="2800" b="1" i="0">
                <a:solidFill>
                  <a:srgbClr val="FFFFFF"/>
                </a:solidFill>
                <a:latin typeface="Georgia"/>
                <a:ea typeface="Georgia"/>
                <a:cs typeface="Georgia"/>
              </a:rPr>
              <a:t>2</a:t>
            </a:r>
          </a:p>
        </p:txBody>
      </p:sp>
      <p:sp>
        <p:nvSpPr>
          <p:cNvPr id="13" name="TextBox 12"/>
          <p:cNvSpPr txBox="1"/>
          <p:nvPr/>
        </p:nvSpPr>
        <p:spPr>
          <a:xfrm>
            <a:off x="7114032" y="5193792"/>
            <a:ext cx="301752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live clips to play</a:t>
            </a:r>
          </a:p>
        </p:txBody>
      </p:sp>
      <p:sp>
        <p:nvSpPr>
          <p:cNvPr id="14" name="TextBox 13"/>
          <p:cNvSpPr txBox="1"/>
          <p:nvPr/>
        </p:nvSpPr>
        <p:spPr>
          <a:xfrm>
            <a:off x="713232" y="5989320"/>
            <a:ext cx="7315200" cy="27432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github.com/couder-04/XtraFlow</a:t>
            </a:r>
          </a:p>
        </p:txBody>
      </p:sp>
      <p:sp>
        <p:nvSpPr>
          <p:cNvPr id="15" name="TextBox 14"/>
          <p:cNvSpPr txBox="1"/>
          <p:nvPr/>
        </p:nvSpPr>
        <p:spPr>
          <a:xfrm>
            <a:off x="713232" y="6291072"/>
            <a:ext cx="9144000" cy="256032"/>
          </a:xfrm>
          <a:prstGeom prst="rect">
            <a:avLst/>
          </a:prstGeom>
          <a:noFill/>
        </p:spPr>
        <p:txBody>
          <a:bodyPr wrap="square" lIns="0" rIns="0" tIns="0" bIns="0" anchor="t"/>
          <a:lstStyle/>
          <a:p>
            <a:pPr algn="l">
              <a:spcBef>
                <a:spcPts val="0"/>
              </a:spcBef>
              <a:spcAft>
                <a:spcPts val="0"/>
              </a:spcAft>
            </a:pPr>
            <a:r>
              <a:rPr sz="1200" b="0" i="0">
                <a:solidFill>
                  <a:srgbClr val="8A9BA8"/>
                </a:solidFill>
                <a:latin typeface="Calibri"/>
                <a:ea typeface="Calibri"/>
                <a:cs typeface="Calibri"/>
              </a:rPr>
              <a:t>Simulation-based estimate; assumed traffic mix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TALK MAP</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What you will see</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Numbers first from the locked TEST. Clips last — they illustrate, they do not replace the headline.</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02</a:t>
            </a:r>
          </a:p>
        </p:txBody>
      </p:sp>
      <p:sp>
        <p:nvSpPr>
          <p:cNvPr id="8" name="Rounded Rectangle 7"/>
          <p:cNvSpPr/>
          <p:nvPr/>
        </p:nvSpPr>
        <p:spPr>
          <a:xfrm>
            <a:off x="502920"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01</a:t>
            </a:r>
          </a:p>
        </p:txBody>
      </p:sp>
      <p:sp>
        <p:nvSpPr>
          <p:cNvPr id="10" name="TextBox 9"/>
          <p:cNvSpPr txBox="1"/>
          <p:nvPr/>
        </p:nvSpPr>
        <p:spPr>
          <a:xfrm>
            <a:off x="667512"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Idea</a:t>
            </a:r>
          </a:p>
        </p:txBody>
      </p:sp>
      <p:sp>
        <p:nvSpPr>
          <p:cNvPr id="11" name="TextBox 10"/>
          <p:cNvSpPr txBox="1"/>
          <p:nvPr/>
        </p:nvSpPr>
        <p:spPr>
          <a:xfrm>
            <a:off x="667512"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Adaptive pressure vs fixed timing; fuel weights are a small add-on.</a:t>
            </a:r>
          </a:p>
        </p:txBody>
      </p:sp>
      <p:sp>
        <p:nvSpPr>
          <p:cNvPr id="12" name="Rounded Rectangle 11"/>
          <p:cNvSpPr/>
          <p:nvPr/>
        </p:nvSpPr>
        <p:spPr>
          <a:xfrm>
            <a:off x="2774289"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8881"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02</a:t>
            </a:r>
          </a:p>
        </p:txBody>
      </p:sp>
      <p:sp>
        <p:nvSpPr>
          <p:cNvPr id="14" name="TextBox 13"/>
          <p:cNvSpPr txBox="1"/>
          <p:nvPr/>
        </p:nvSpPr>
        <p:spPr>
          <a:xfrm>
            <a:off x="2938881"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Locked TEST</a:t>
            </a:r>
          </a:p>
        </p:txBody>
      </p:sp>
      <p:sp>
        <p:nvSpPr>
          <p:cNvPr id="15" name="TextBox 14"/>
          <p:cNvSpPr txBox="1"/>
          <p:nvPr/>
        </p:nvSpPr>
        <p:spPr>
          <a:xfrm>
            <a:off x="2938881"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Same demand, fair baselines, full figure gallery on disk.</a:t>
            </a:r>
          </a:p>
        </p:txBody>
      </p:sp>
      <p:sp>
        <p:nvSpPr>
          <p:cNvPr id="16" name="Rounded Rectangle 15"/>
          <p:cNvSpPr/>
          <p:nvPr/>
        </p:nvSpPr>
        <p:spPr>
          <a:xfrm>
            <a:off x="5045659"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0251"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03</a:t>
            </a:r>
          </a:p>
        </p:txBody>
      </p:sp>
      <p:sp>
        <p:nvSpPr>
          <p:cNvPr id="18" name="TextBox 17"/>
          <p:cNvSpPr txBox="1"/>
          <p:nvPr/>
        </p:nvSpPr>
        <p:spPr>
          <a:xfrm>
            <a:off x="5210251"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Live · SUMO</a:t>
            </a:r>
          </a:p>
        </p:txBody>
      </p:sp>
      <p:sp>
        <p:nvSpPr>
          <p:cNvPr id="19" name="TextBox 18"/>
          <p:cNvSpPr txBox="1"/>
          <p:nvPr/>
        </p:nvSpPr>
        <p:spPr>
          <a:xfrm>
            <a:off x="5210251"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Side-by-side: fixed timing vs XtraFlow on one seed.</a:t>
            </a:r>
          </a:p>
        </p:txBody>
      </p:sp>
      <p:sp>
        <p:nvSpPr>
          <p:cNvPr id="20" name="Rounded Rectangle 19"/>
          <p:cNvSpPr/>
          <p:nvPr/>
        </p:nvSpPr>
        <p:spPr>
          <a:xfrm>
            <a:off x="7317028"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1620"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04</a:t>
            </a:r>
          </a:p>
        </p:txBody>
      </p:sp>
      <p:sp>
        <p:nvSpPr>
          <p:cNvPr id="22" name="TextBox 21"/>
          <p:cNvSpPr txBox="1"/>
          <p:nvPr/>
        </p:nvSpPr>
        <p:spPr>
          <a:xfrm>
            <a:off x="7481620"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Live · YOLO</a:t>
            </a:r>
          </a:p>
        </p:txBody>
      </p:sp>
      <p:sp>
        <p:nvSpPr>
          <p:cNvPr id="23" name="TextBox 22"/>
          <p:cNvSpPr txBox="1"/>
          <p:nvPr/>
        </p:nvSpPr>
        <p:spPr>
          <a:xfrm>
            <a:off x="7481620"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Camera mosaic with GO/WAIT story, then per-cam overlays if asked.</a:t>
            </a:r>
          </a:p>
        </p:txBody>
      </p:sp>
      <p:sp>
        <p:nvSpPr>
          <p:cNvPr id="24" name="Rounded Rectangle 23"/>
          <p:cNvSpPr/>
          <p:nvPr/>
        </p:nvSpPr>
        <p:spPr>
          <a:xfrm>
            <a:off x="9588398"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52990"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05</a:t>
            </a:r>
          </a:p>
        </p:txBody>
      </p:sp>
      <p:sp>
        <p:nvSpPr>
          <p:cNvPr id="26" name="TextBox 25"/>
          <p:cNvSpPr txBox="1"/>
          <p:nvPr/>
        </p:nvSpPr>
        <p:spPr>
          <a:xfrm>
            <a:off x="9752990"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Limits</a:t>
            </a:r>
          </a:p>
        </p:txBody>
      </p:sp>
      <p:sp>
        <p:nvSpPr>
          <p:cNvPr id="27" name="TextBox 26"/>
          <p:cNvSpPr txBox="1"/>
          <p:nvPr/>
        </p:nvSpPr>
        <p:spPr>
          <a:xfrm>
            <a:off x="9752990"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Detection miss, unscored grid, oracle TEST, next field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PROBLEM</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A stopped queue is burning fuel</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Fixed green cannot see which approach is waiting, or what that wait costs.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03</a:t>
            </a:r>
          </a:p>
        </p:txBody>
      </p:sp>
      <p:sp>
        <p:nvSpPr>
          <p:cNvPr id="8" name="Rounded Rectangle 7"/>
          <p:cNvSpPr/>
          <p:nvPr/>
        </p:nvSpPr>
        <p:spPr>
          <a:xfrm>
            <a:off x="502920" y="1572768"/>
            <a:ext cx="3633216" cy="3703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792224"/>
            <a:ext cx="3176016" cy="365760"/>
          </a:xfrm>
          <a:prstGeom prst="rect">
            <a:avLst/>
          </a:prstGeom>
          <a:noFill/>
        </p:spPr>
        <p:txBody>
          <a:bodyPr wrap="square" lIns="0" rIns="0" tIns="0" bIns="0" anchor="t"/>
          <a:lstStyle/>
          <a:p>
            <a:pPr algn="l">
              <a:spcBef>
                <a:spcPts val="0"/>
              </a:spcBef>
              <a:spcAft>
                <a:spcPts val="0"/>
              </a:spcAft>
            </a:pPr>
            <a:r>
              <a:rPr sz="2000" b="1" i="0">
                <a:solidFill>
                  <a:srgbClr val="C4841D"/>
                </a:solidFill>
                <a:latin typeface="Georgia"/>
                <a:ea typeface="Georgia"/>
                <a:cs typeface="Georgia"/>
              </a:rPr>
              <a:t>01</a:t>
            </a:r>
          </a:p>
        </p:txBody>
      </p:sp>
      <p:sp>
        <p:nvSpPr>
          <p:cNvPr id="10" name="TextBox 9"/>
          <p:cNvSpPr txBox="1"/>
          <p:nvPr/>
        </p:nvSpPr>
        <p:spPr>
          <a:xfrm>
            <a:off x="740664" y="2331720"/>
            <a:ext cx="3176016" cy="777240"/>
          </a:xfrm>
          <a:prstGeom prst="rect">
            <a:avLst/>
          </a:prstGeom>
          <a:noFill/>
        </p:spPr>
        <p:txBody>
          <a:bodyPr wrap="square" lIns="0" rIns="0" tIns="0" bIns="0" anchor="t"/>
          <a:lstStyle/>
          <a:p>
            <a:pPr algn="l">
              <a:spcBef>
                <a:spcPts val="0"/>
              </a:spcBef>
              <a:spcAft>
                <a:spcPts val="0"/>
              </a:spcAft>
            </a:pPr>
            <a:r>
              <a:rPr sz="2000" b="1" i="0">
                <a:solidFill>
                  <a:srgbClr val="1A2834"/>
                </a:solidFill>
                <a:latin typeface="Georgia"/>
                <a:ea typeface="Georgia"/>
                <a:cs typeface="Georgia"/>
              </a:rPr>
              <a:t>Fixed green is blind</a:t>
            </a:r>
          </a:p>
        </p:txBody>
      </p:sp>
      <p:sp>
        <p:nvSpPr>
          <p:cNvPr id="11" name="TextBox 10"/>
          <p:cNvSpPr txBox="1"/>
          <p:nvPr/>
        </p:nvSpPr>
        <p:spPr>
          <a:xfrm>
            <a:off x="740664" y="3200400"/>
            <a:ext cx="3157728" cy="17373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The split stays put when one road is empty and the other is full. Webster helps the average hour. It still lags a peak that moves.</a:t>
            </a:r>
          </a:p>
        </p:txBody>
      </p:sp>
      <p:sp>
        <p:nvSpPr>
          <p:cNvPr id="12" name="Rounded Rectangle 11"/>
          <p:cNvSpPr/>
          <p:nvPr/>
        </p:nvSpPr>
        <p:spPr>
          <a:xfrm>
            <a:off x="4300728" y="1572768"/>
            <a:ext cx="3633216" cy="3703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8472" y="1792224"/>
            <a:ext cx="3176016" cy="365760"/>
          </a:xfrm>
          <a:prstGeom prst="rect">
            <a:avLst/>
          </a:prstGeom>
          <a:noFill/>
        </p:spPr>
        <p:txBody>
          <a:bodyPr wrap="square" lIns="0" rIns="0" tIns="0" bIns="0" anchor="t"/>
          <a:lstStyle/>
          <a:p>
            <a:pPr algn="l">
              <a:spcBef>
                <a:spcPts val="0"/>
              </a:spcBef>
              <a:spcAft>
                <a:spcPts val="0"/>
              </a:spcAft>
            </a:pPr>
            <a:r>
              <a:rPr sz="2000" b="1" i="0">
                <a:solidFill>
                  <a:srgbClr val="C4841D"/>
                </a:solidFill>
                <a:latin typeface="Georgia"/>
                <a:ea typeface="Georgia"/>
                <a:cs typeface="Georgia"/>
              </a:rPr>
              <a:t>02</a:t>
            </a:r>
          </a:p>
        </p:txBody>
      </p:sp>
      <p:sp>
        <p:nvSpPr>
          <p:cNvPr id="14" name="TextBox 13"/>
          <p:cNvSpPr txBox="1"/>
          <p:nvPr/>
        </p:nvSpPr>
        <p:spPr>
          <a:xfrm>
            <a:off x="4538472" y="2331720"/>
            <a:ext cx="3176016" cy="777240"/>
          </a:xfrm>
          <a:prstGeom prst="rect">
            <a:avLst/>
          </a:prstGeom>
          <a:noFill/>
        </p:spPr>
        <p:txBody>
          <a:bodyPr wrap="square" lIns="0" rIns="0" tIns="0" bIns="0" anchor="t"/>
          <a:lstStyle/>
          <a:p>
            <a:pPr algn="l">
              <a:spcBef>
                <a:spcPts val="0"/>
              </a:spcBef>
              <a:spcAft>
                <a:spcPts val="0"/>
              </a:spcAft>
            </a:pPr>
            <a:r>
              <a:rPr sz="2000" b="1" i="0">
                <a:solidFill>
                  <a:srgbClr val="1A2834"/>
                </a:solidFill>
                <a:latin typeface="Georgia"/>
                <a:ea typeface="Georgia"/>
                <a:cs typeface="Georgia"/>
              </a:rPr>
              <a:t>A count is the wrong unit</a:t>
            </a:r>
          </a:p>
        </p:txBody>
      </p:sp>
      <p:sp>
        <p:nvSpPr>
          <p:cNvPr id="15" name="TextBox 14"/>
          <p:cNvSpPr txBox="1"/>
          <p:nvPr/>
        </p:nvSpPr>
        <p:spPr>
          <a:xfrm>
            <a:off x="4538472" y="3200400"/>
            <a:ext cx="3157728" cy="17373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Here a truck idles at 2.8× a car, a two-wheeler at 0.54×. Treating them as one vehicle spends green on the wrong queue.</a:t>
            </a:r>
          </a:p>
        </p:txBody>
      </p:sp>
      <p:sp>
        <p:nvSpPr>
          <p:cNvPr id="16" name="Rounded Rectangle 15"/>
          <p:cNvSpPr/>
          <p:nvPr/>
        </p:nvSpPr>
        <p:spPr>
          <a:xfrm>
            <a:off x="8098536" y="1572768"/>
            <a:ext cx="3633216" cy="3703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1792224"/>
            <a:ext cx="3176016" cy="365760"/>
          </a:xfrm>
          <a:prstGeom prst="rect">
            <a:avLst/>
          </a:prstGeom>
          <a:noFill/>
        </p:spPr>
        <p:txBody>
          <a:bodyPr wrap="square" lIns="0" rIns="0" tIns="0" bIns="0" anchor="t"/>
          <a:lstStyle/>
          <a:p>
            <a:pPr algn="l">
              <a:spcBef>
                <a:spcPts val="0"/>
              </a:spcBef>
              <a:spcAft>
                <a:spcPts val="0"/>
              </a:spcAft>
            </a:pPr>
            <a:r>
              <a:rPr sz="2000" b="1" i="0">
                <a:solidFill>
                  <a:srgbClr val="C4841D"/>
                </a:solidFill>
                <a:latin typeface="Georgia"/>
                <a:ea typeface="Georgia"/>
                <a:cs typeface="Georgia"/>
              </a:rPr>
              <a:t>03</a:t>
            </a:r>
          </a:p>
        </p:txBody>
      </p:sp>
      <p:sp>
        <p:nvSpPr>
          <p:cNvPr id="18" name="TextBox 17"/>
          <p:cNvSpPr txBox="1"/>
          <p:nvPr/>
        </p:nvSpPr>
        <p:spPr>
          <a:xfrm>
            <a:off x="8336280" y="2331720"/>
            <a:ext cx="3176016" cy="777240"/>
          </a:xfrm>
          <a:prstGeom prst="rect">
            <a:avLst/>
          </a:prstGeom>
          <a:noFill/>
        </p:spPr>
        <p:txBody>
          <a:bodyPr wrap="square" lIns="0" rIns="0" tIns="0" bIns="0" anchor="t"/>
          <a:lstStyle/>
          <a:p>
            <a:pPr algn="l">
              <a:spcBef>
                <a:spcPts val="0"/>
              </a:spcBef>
              <a:spcAft>
                <a:spcPts val="0"/>
              </a:spcAft>
            </a:pPr>
            <a:r>
              <a:rPr sz="2000" b="1" i="0">
                <a:solidFill>
                  <a:srgbClr val="1A2834"/>
                </a:solidFill>
                <a:latin typeface="Georgia"/>
                <a:ea typeface="Georgia"/>
                <a:cs typeface="Georgia"/>
              </a:rPr>
              <a:t>The question</a:t>
            </a:r>
          </a:p>
        </p:txBody>
      </p:sp>
      <p:sp>
        <p:nvSpPr>
          <p:cNvPr id="19" name="TextBox 18"/>
          <p:cNvSpPr txBox="1"/>
          <p:nvPr/>
        </p:nvSpPr>
        <p:spPr>
          <a:xfrm>
            <a:off x="8336280" y="3200400"/>
            <a:ext cx="3157728" cy="17373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If the signal weighs each vehicle by idle fuel, do fuel, CO₂, delay, and queues fall — inside hard green, yellow, and all-red limits?</a:t>
            </a:r>
          </a:p>
        </p:txBody>
      </p:sp>
      <p:sp>
        <p:nvSpPr>
          <p:cNvPr id="20" name="Rounded Rectangle 19"/>
          <p:cNvSpPr/>
          <p:nvPr/>
        </p:nvSpPr>
        <p:spPr>
          <a:xfrm>
            <a:off x="502920" y="5440680"/>
            <a:ext cx="11228832" cy="868680"/>
          </a:xfrm>
          <a:prstGeom prst="roundRect">
            <a:avLst>
              <a:gd name="adj" fmla="val 8000"/>
            </a:avLst>
          </a:prstGeom>
          <a:solidFill>
            <a:srgbClr val="FBF8F3"/>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5559552"/>
            <a:ext cx="10771632"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LEFT-HAND TRAFFIC  ·  ONE FOUR-ARM JUNCTION</a:t>
            </a:r>
          </a:p>
        </p:txBody>
      </p:sp>
      <p:sp>
        <p:nvSpPr>
          <p:cNvPr id="22" name="TextBox 21"/>
          <p:cNvSpPr txBox="1"/>
          <p:nvPr/>
        </p:nvSpPr>
        <p:spPr>
          <a:xfrm>
            <a:off x="758952" y="5833872"/>
            <a:ext cx="10771632" cy="32004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Assumed mix   ·   two-wheelers 40%   ·   cars 30%   ·   trucks 15%   ·   autos 10%   ·   buses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CONTROLLER</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Weigh the queue by the fuel it burns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Idle-fuel weights are a small add-on on top of adaptive pressure (about 0–2% vs count-only on TEST).</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04</a:t>
            </a:r>
          </a:p>
        </p:txBody>
      </p:sp>
      <p:sp>
        <p:nvSpPr>
          <p:cNvPr id="8" name="TextBox 7"/>
          <p:cNvSpPr txBox="1"/>
          <p:nvPr/>
        </p:nvSpPr>
        <p:spPr>
          <a:xfrm>
            <a:off x="502920" y="1600200"/>
            <a:ext cx="4892040" cy="1371600"/>
          </a:xfrm>
          <a:prstGeom prst="rect">
            <a:avLst/>
          </a:prstGeom>
          <a:noFill/>
        </p:spPr>
        <p:txBody>
          <a:bodyPr wrap="square" lIns="0" rIns="0" tIns="0" bIns="0" anchor="t"/>
          <a:lstStyle/>
          <a:p>
            <a:pPr algn="l">
              <a:spcBef>
                <a:spcPts val="0"/>
              </a:spcBef>
              <a:spcAft>
                <a:spcPts val="0"/>
              </a:spcAft>
            </a:pPr>
            <a:r>
              <a:rPr sz="1600" b="0" i="0">
                <a:solidFill>
                  <a:srgbClr val="1A2834"/>
                </a:solidFill>
                <a:latin typeface="Calibri"/>
                <a:ea typeface="Calibri"/>
                <a:cs typeface="Calibri"/>
              </a:rPr>
              <a:t>Weights come from a 60-second probe of fuel burned while the vehicle is stopped. Emission classes are assumed. Autos and cars share a class in this run, so they share a weight.</a:t>
            </a:r>
          </a:p>
        </p:txBody>
      </p:sp>
      <p:sp>
        <p:nvSpPr>
          <p:cNvPr id="9" name="TextBox 8"/>
          <p:cNvSpPr txBox="1"/>
          <p:nvPr/>
        </p:nvSpPr>
        <p:spPr>
          <a:xfrm>
            <a:off x="502920" y="3154680"/>
            <a:ext cx="4892040" cy="123444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Chosen on validation only</a:t>
            </a:r>
          </a:p>
          <a:p>
            <a:pPr algn="l">
              <a:spcBef>
                <a:spcPts val="0"/>
              </a:spcBef>
              <a:spcAft>
                <a:spcPts val="0"/>
              </a:spcAft>
            </a:pPr>
            <a:r>
              <a:rPr sz="1500" b="0" i="0">
                <a:solidFill>
                  <a:srgbClr val="1A2834"/>
                </a:solidFill>
                <a:latin typeface="Calibri"/>
                <a:ea typeface="Calibri"/>
                <a:cs typeface="Calibri"/>
              </a:rPr>
              <a:t>Look back 150 m. Count moving vehicles at 0.50. Switch only past hysteresis 0.25. Scenario: .</a:t>
            </a:r>
          </a:p>
        </p:txBody>
      </p:sp>
      <p:sp>
        <p:nvSpPr>
          <p:cNvPr id="10" name="TextBox 9"/>
          <p:cNvSpPr txBox="1"/>
          <p:nvPr/>
        </p:nvSpPr>
        <p:spPr>
          <a:xfrm>
            <a:off x="5532120" y="1627632"/>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Two-wheeler</a:t>
            </a:r>
          </a:p>
        </p:txBody>
      </p:sp>
      <p:sp>
        <p:nvSpPr>
          <p:cNvPr id="11" name="Rectangle 10"/>
          <p:cNvSpPr/>
          <p:nvPr/>
        </p:nvSpPr>
        <p:spPr>
          <a:xfrm>
            <a:off x="7040880" y="1755648"/>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0" y="1755648"/>
            <a:ext cx="555877"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95560" y="1627632"/>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0.54×</a:t>
            </a:r>
          </a:p>
        </p:txBody>
      </p:sp>
      <p:sp>
        <p:nvSpPr>
          <p:cNvPr id="14" name="TextBox 13"/>
          <p:cNvSpPr txBox="1"/>
          <p:nvPr/>
        </p:nvSpPr>
        <p:spPr>
          <a:xfrm>
            <a:off x="5532120" y="2194560"/>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Auto</a:t>
            </a:r>
          </a:p>
        </p:txBody>
      </p:sp>
      <p:sp>
        <p:nvSpPr>
          <p:cNvPr id="15" name="Rectangle 14"/>
          <p:cNvSpPr/>
          <p:nvPr/>
        </p:nvSpPr>
        <p:spPr>
          <a:xfrm>
            <a:off x="7040880" y="2322576"/>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40880" y="2322576"/>
            <a:ext cx="1038694"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95560" y="2194560"/>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1.00×</a:t>
            </a:r>
          </a:p>
        </p:txBody>
      </p:sp>
      <p:sp>
        <p:nvSpPr>
          <p:cNvPr id="18" name="TextBox 17"/>
          <p:cNvSpPr txBox="1"/>
          <p:nvPr/>
        </p:nvSpPr>
        <p:spPr>
          <a:xfrm>
            <a:off x="5532120" y="2761488"/>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Car</a:t>
            </a:r>
          </a:p>
        </p:txBody>
      </p:sp>
      <p:sp>
        <p:nvSpPr>
          <p:cNvPr id="19" name="Rectangle 18"/>
          <p:cNvSpPr/>
          <p:nvPr/>
        </p:nvSpPr>
        <p:spPr>
          <a:xfrm>
            <a:off x="7040880" y="2889504"/>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40880" y="2889504"/>
            <a:ext cx="1038694"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5560" y="2761488"/>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1.00×</a:t>
            </a:r>
          </a:p>
        </p:txBody>
      </p:sp>
      <p:sp>
        <p:nvSpPr>
          <p:cNvPr id="22" name="TextBox 21"/>
          <p:cNvSpPr txBox="1"/>
          <p:nvPr/>
        </p:nvSpPr>
        <p:spPr>
          <a:xfrm>
            <a:off x="5532120" y="3328416"/>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Bus</a:t>
            </a:r>
          </a:p>
        </p:txBody>
      </p:sp>
      <p:sp>
        <p:nvSpPr>
          <p:cNvPr id="23" name="Rectangle 22"/>
          <p:cNvSpPr/>
          <p:nvPr/>
        </p:nvSpPr>
        <p:spPr>
          <a:xfrm>
            <a:off x="7040880" y="3456432"/>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80" y="3456432"/>
            <a:ext cx="2073252"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95560" y="3328416"/>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2.00×</a:t>
            </a:r>
          </a:p>
        </p:txBody>
      </p:sp>
      <p:sp>
        <p:nvSpPr>
          <p:cNvPr id="26" name="TextBox 25"/>
          <p:cNvSpPr txBox="1"/>
          <p:nvPr/>
        </p:nvSpPr>
        <p:spPr>
          <a:xfrm>
            <a:off x="5532120" y="3895344"/>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Truck</a:t>
            </a:r>
          </a:p>
        </p:txBody>
      </p:sp>
      <p:sp>
        <p:nvSpPr>
          <p:cNvPr id="27" name="Rectangle 26"/>
          <p:cNvSpPr/>
          <p:nvPr/>
        </p:nvSpPr>
        <p:spPr>
          <a:xfrm>
            <a:off x="7040880" y="4023359"/>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40880" y="4023359"/>
            <a:ext cx="2880360"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95560" y="3895344"/>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2.77×</a:t>
            </a:r>
          </a:p>
        </p:txBody>
      </p:sp>
      <p:sp>
        <p:nvSpPr>
          <p:cNvPr id="30" name="Rounded Rectangle 29"/>
          <p:cNvSpPr/>
          <p:nvPr/>
        </p:nvSpPr>
        <p:spPr>
          <a:xfrm>
            <a:off x="502920" y="4983480"/>
            <a:ext cx="11228832" cy="1298448"/>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5102352"/>
            <a:ext cx="7315200"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TIMING THAT STAYS IN FORCE</a:t>
            </a:r>
          </a:p>
        </p:txBody>
      </p:sp>
      <p:sp>
        <p:nvSpPr>
          <p:cNvPr id="32" name="TextBox 31"/>
          <p:cNvSpPr txBox="1"/>
          <p:nvPr/>
        </p:nvSpPr>
        <p:spPr>
          <a:xfrm>
            <a:off x="704088"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15 s</a:t>
            </a:r>
          </a:p>
        </p:txBody>
      </p:sp>
      <p:sp>
        <p:nvSpPr>
          <p:cNvPr id="33" name="TextBox 32"/>
          <p:cNvSpPr txBox="1"/>
          <p:nvPr/>
        </p:nvSpPr>
        <p:spPr>
          <a:xfrm>
            <a:off x="704088"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Min green</a:t>
            </a:r>
          </a:p>
        </p:txBody>
      </p:sp>
      <p:sp>
        <p:nvSpPr>
          <p:cNvPr id="34" name="TextBox 33"/>
          <p:cNvSpPr txBox="1"/>
          <p:nvPr/>
        </p:nvSpPr>
        <p:spPr>
          <a:xfrm>
            <a:off x="2858414"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90 s</a:t>
            </a:r>
          </a:p>
        </p:txBody>
      </p:sp>
      <p:sp>
        <p:nvSpPr>
          <p:cNvPr id="35" name="TextBox 34"/>
          <p:cNvSpPr txBox="1"/>
          <p:nvPr/>
        </p:nvSpPr>
        <p:spPr>
          <a:xfrm>
            <a:off x="2858414"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Max green</a:t>
            </a:r>
          </a:p>
        </p:txBody>
      </p:sp>
      <p:sp>
        <p:nvSpPr>
          <p:cNvPr id="36" name="TextBox 35"/>
          <p:cNvSpPr txBox="1"/>
          <p:nvPr/>
        </p:nvSpPr>
        <p:spPr>
          <a:xfrm>
            <a:off x="5012740"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3 s</a:t>
            </a:r>
          </a:p>
        </p:txBody>
      </p:sp>
      <p:sp>
        <p:nvSpPr>
          <p:cNvPr id="37" name="TextBox 36"/>
          <p:cNvSpPr txBox="1"/>
          <p:nvPr/>
        </p:nvSpPr>
        <p:spPr>
          <a:xfrm>
            <a:off x="5012740"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Yellow</a:t>
            </a:r>
          </a:p>
        </p:txBody>
      </p:sp>
      <p:sp>
        <p:nvSpPr>
          <p:cNvPr id="38" name="TextBox 37"/>
          <p:cNvSpPr txBox="1"/>
          <p:nvPr/>
        </p:nvSpPr>
        <p:spPr>
          <a:xfrm>
            <a:off x="7167067"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2 s</a:t>
            </a:r>
          </a:p>
        </p:txBody>
      </p:sp>
      <p:sp>
        <p:nvSpPr>
          <p:cNvPr id="39" name="TextBox 38"/>
          <p:cNvSpPr txBox="1"/>
          <p:nvPr/>
        </p:nvSpPr>
        <p:spPr>
          <a:xfrm>
            <a:off x="7167067"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All-red</a:t>
            </a:r>
          </a:p>
        </p:txBody>
      </p:sp>
      <p:sp>
        <p:nvSpPr>
          <p:cNvPr id="40" name="TextBox 39"/>
          <p:cNvSpPr txBox="1"/>
          <p:nvPr/>
        </p:nvSpPr>
        <p:spPr>
          <a:xfrm>
            <a:off x="9321393"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120 s</a:t>
            </a:r>
          </a:p>
        </p:txBody>
      </p:sp>
      <p:sp>
        <p:nvSpPr>
          <p:cNvPr id="41" name="TextBox 40"/>
          <p:cNvSpPr txBox="1"/>
          <p:nvPr/>
        </p:nvSpPr>
        <p:spPr>
          <a:xfrm>
            <a:off x="9321393"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Must serve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HOW A DECISION IS MADE</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See the queue. Score the fuel. Keep the timing.</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The signal never skips yellow or all-red, and it cannot hold green past the cap.</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05</a:t>
            </a:r>
          </a:p>
        </p:txBody>
      </p:sp>
      <p:sp>
        <p:nvSpPr>
          <p:cNvPr id="8" name="Rounded Rectangle 7"/>
          <p:cNvSpPr/>
          <p:nvPr/>
        </p:nvSpPr>
        <p:spPr>
          <a:xfrm>
            <a:off x="502920"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810512"/>
            <a:ext cx="3176016" cy="329184"/>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01</a:t>
            </a:r>
          </a:p>
        </p:txBody>
      </p:sp>
      <p:sp>
        <p:nvSpPr>
          <p:cNvPr id="10" name="TextBox 9"/>
          <p:cNvSpPr txBox="1"/>
          <p:nvPr/>
        </p:nvSpPr>
        <p:spPr>
          <a:xfrm>
            <a:off x="740664" y="2240280"/>
            <a:ext cx="3176016" cy="457200"/>
          </a:xfrm>
          <a:prstGeom prst="rect">
            <a:avLst/>
          </a:prstGeom>
          <a:noFill/>
        </p:spPr>
        <p:txBody>
          <a:bodyPr wrap="square" lIns="0" rIns="0" tIns="0" bIns="0" anchor="t"/>
          <a:lstStyle/>
          <a:p>
            <a:pPr algn="l">
              <a:spcBef>
                <a:spcPts val="0"/>
              </a:spcBef>
              <a:spcAft>
                <a:spcPts val="0"/>
              </a:spcAft>
            </a:pPr>
            <a:r>
              <a:rPr sz="2600" b="1" i="0">
                <a:solidFill>
                  <a:srgbClr val="1A2834"/>
                </a:solidFill>
                <a:latin typeface="Georgia"/>
                <a:ea typeface="Georgia"/>
                <a:cs typeface="Georgia"/>
              </a:rPr>
              <a:t>See</a:t>
            </a:r>
          </a:p>
        </p:txBody>
      </p:sp>
      <p:sp>
        <p:nvSpPr>
          <p:cNvPr id="11" name="TextBox 10"/>
          <p:cNvSpPr txBox="1"/>
          <p:nvPr/>
        </p:nvSpPr>
        <p:spPr>
          <a:xfrm>
            <a:off x="740664" y="2926080"/>
            <a:ext cx="3157728" cy="21945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Detectors on each approach, or a camera. A YOLO overlay demo is on a later slide — input feasibility, not a fuel-saving result. Locked TEST scores still use the oracle detector; detector-miss noise for robustness stays assumed (15% in the smoke check).</a:t>
            </a:r>
          </a:p>
        </p:txBody>
      </p:sp>
      <p:sp>
        <p:nvSpPr>
          <p:cNvPr id="12" name="Rounded Rectangle 11"/>
          <p:cNvSpPr/>
          <p:nvPr/>
        </p:nvSpPr>
        <p:spPr>
          <a:xfrm>
            <a:off x="4300728"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8472" y="1810512"/>
            <a:ext cx="3176016" cy="329184"/>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02</a:t>
            </a:r>
          </a:p>
        </p:txBody>
      </p:sp>
      <p:sp>
        <p:nvSpPr>
          <p:cNvPr id="14" name="TextBox 13"/>
          <p:cNvSpPr txBox="1"/>
          <p:nvPr/>
        </p:nvSpPr>
        <p:spPr>
          <a:xfrm>
            <a:off x="4538472" y="2240280"/>
            <a:ext cx="3176016" cy="457200"/>
          </a:xfrm>
          <a:prstGeom prst="rect">
            <a:avLst/>
          </a:prstGeom>
          <a:noFill/>
        </p:spPr>
        <p:txBody>
          <a:bodyPr wrap="square" lIns="0" rIns="0" tIns="0" bIns="0" anchor="t"/>
          <a:lstStyle/>
          <a:p>
            <a:pPr algn="l">
              <a:spcBef>
                <a:spcPts val="0"/>
              </a:spcBef>
              <a:spcAft>
                <a:spcPts val="0"/>
              </a:spcAft>
            </a:pPr>
            <a:r>
              <a:rPr sz="2600" b="1" i="0">
                <a:solidFill>
                  <a:srgbClr val="1A2834"/>
                </a:solidFill>
                <a:latin typeface="Georgia"/>
                <a:ea typeface="Georgia"/>
                <a:cs typeface="Georgia"/>
              </a:rPr>
              <a:t>Score</a:t>
            </a:r>
          </a:p>
        </p:txBody>
      </p:sp>
      <p:sp>
        <p:nvSpPr>
          <p:cNvPr id="15" name="TextBox 14"/>
          <p:cNvSpPr txBox="1"/>
          <p:nvPr/>
        </p:nvSpPr>
        <p:spPr>
          <a:xfrm>
            <a:off x="4538472" y="2926080"/>
            <a:ext cx="3157728" cy="21945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Each queued vehicle is scaled by its idle-fuel weight. Moving vehicles count at the tuned fraction. The phase changes only after minimum green, and only if the gain clears hysteresis.</a:t>
            </a:r>
          </a:p>
        </p:txBody>
      </p:sp>
      <p:sp>
        <p:nvSpPr>
          <p:cNvPr id="16" name="Rounded Rectangle 15"/>
          <p:cNvSpPr/>
          <p:nvPr/>
        </p:nvSpPr>
        <p:spPr>
          <a:xfrm>
            <a:off x="8098536"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1810512"/>
            <a:ext cx="3176016" cy="329184"/>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03</a:t>
            </a:r>
          </a:p>
        </p:txBody>
      </p:sp>
      <p:sp>
        <p:nvSpPr>
          <p:cNvPr id="18" name="TextBox 17"/>
          <p:cNvSpPr txBox="1"/>
          <p:nvPr/>
        </p:nvSpPr>
        <p:spPr>
          <a:xfrm>
            <a:off x="8336280" y="2240280"/>
            <a:ext cx="3176016" cy="457200"/>
          </a:xfrm>
          <a:prstGeom prst="rect">
            <a:avLst/>
          </a:prstGeom>
          <a:noFill/>
        </p:spPr>
        <p:txBody>
          <a:bodyPr wrap="square" lIns="0" rIns="0" tIns="0" bIns="0" anchor="t"/>
          <a:lstStyle/>
          <a:p>
            <a:pPr algn="l">
              <a:spcBef>
                <a:spcPts val="0"/>
              </a:spcBef>
              <a:spcAft>
                <a:spcPts val="0"/>
              </a:spcAft>
            </a:pPr>
            <a:r>
              <a:rPr sz="2600" b="1" i="0">
                <a:solidFill>
                  <a:srgbClr val="1A2834"/>
                </a:solidFill>
                <a:latin typeface="Georgia"/>
                <a:ea typeface="Georgia"/>
                <a:cs typeface="Georgia"/>
              </a:rPr>
              <a:t>Measure</a:t>
            </a:r>
          </a:p>
        </p:txBody>
      </p:sp>
      <p:sp>
        <p:nvSpPr>
          <p:cNvPr id="19" name="TextBox 18"/>
          <p:cNvSpPr txBox="1"/>
          <p:nvPr/>
        </p:nvSpPr>
        <p:spPr>
          <a:xfrm>
            <a:off x="8336280" y="2926080"/>
            <a:ext cx="3157728" cy="21945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Fuel and CO₂ come from SUMO on every completed trip. Waiting and queues use the same seed the other controllers saw. The test set was not used to pick the settings.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EXPERIMENT</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Same cars for every controller</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Settings are frozen before the test. 5 test seeds (1–5). A seed is one hour of the same demand, replayed.</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06</a:t>
            </a:r>
          </a:p>
        </p:txBody>
      </p:sp>
      <p:sp>
        <p:nvSpPr>
          <p:cNvPr id="8" name="Rounded Rectangle 7"/>
          <p:cNvSpPr/>
          <p:nvPr/>
        </p:nvSpPr>
        <p:spPr>
          <a:xfrm>
            <a:off x="502920" y="1554480"/>
            <a:ext cx="3645407" cy="1417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3279648"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TRAIN</a:t>
            </a:r>
          </a:p>
        </p:txBody>
      </p:sp>
      <p:sp>
        <p:nvSpPr>
          <p:cNvPr id="10" name="TextBox 9"/>
          <p:cNvSpPr txBox="1"/>
          <p:nvPr/>
        </p:nvSpPr>
        <p:spPr>
          <a:xfrm>
            <a:off x="704088" y="1920240"/>
            <a:ext cx="3279648" cy="384048"/>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1000 – 1049</a:t>
            </a:r>
          </a:p>
        </p:txBody>
      </p:sp>
      <p:sp>
        <p:nvSpPr>
          <p:cNvPr id="11" name="TextBox 10"/>
          <p:cNvSpPr txBox="1"/>
          <p:nvPr/>
        </p:nvSpPr>
        <p:spPr>
          <a:xfrm>
            <a:off x="704088" y="2359152"/>
            <a:ext cx="3279648" cy="43891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Reinforcement-learning baseline only</a:t>
            </a:r>
          </a:p>
        </p:txBody>
      </p:sp>
      <p:sp>
        <p:nvSpPr>
          <p:cNvPr id="12" name="Rounded Rectangle 11"/>
          <p:cNvSpPr/>
          <p:nvPr/>
        </p:nvSpPr>
        <p:spPr>
          <a:xfrm>
            <a:off x="4294632" y="1554480"/>
            <a:ext cx="3645407" cy="1417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5799" y="1664208"/>
            <a:ext cx="3279648"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VALIDATION</a:t>
            </a:r>
          </a:p>
        </p:txBody>
      </p:sp>
      <p:sp>
        <p:nvSpPr>
          <p:cNvPr id="14" name="TextBox 13"/>
          <p:cNvSpPr txBox="1"/>
          <p:nvPr/>
        </p:nvSpPr>
        <p:spPr>
          <a:xfrm>
            <a:off x="4495799" y="1920240"/>
            <a:ext cx="3279648" cy="384048"/>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2000 – 2019</a:t>
            </a:r>
          </a:p>
        </p:txBody>
      </p:sp>
      <p:sp>
        <p:nvSpPr>
          <p:cNvPr id="15" name="TextBox 14"/>
          <p:cNvSpPr txBox="1"/>
          <p:nvPr/>
        </p:nvSpPr>
        <p:spPr>
          <a:xfrm>
            <a:off x="4495799" y="2359152"/>
            <a:ext cx="3279648" cy="43891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Settings chosen here, then frozen</a:t>
            </a:r>
          </a:p>
        </p:txBody>
      </p:sp>
      <p:sp>
        <p:nvSpPr>
          <p:cNvPr id="16" name="Rounded Rectangle 15"/>
          <p:cNvSpPr/>
          <p:nvPr/>
        </p:nvSpPr>
        <p:spPr>
          <a:xfrm>
            <a:off x="8086344" y="1554480"/>
            <a:ext cx="3645407" cy="1417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7512" y="1664208"/>
            <a:ext cx="3279648"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TEST</a:t>
            </a:r>
          </a:p>
        </p:txBody>
      </p:sp>
      <p:sp>
        <p:nvSpPr>
          <p:cNvPr id="18" name="TextBox 17"/>
          <p:cNvSpPr txBox="1"/>
          <p:nvPr/>
        </p:nvSpPr>
        <p:spPr>
          <a:xfrm>
            <a:off x="8287512" y="1920240"/>
            <a:ext cx="3279648" cy="384048"/>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1 – 5</a:t>
            </a:r>
          </a:p>
        </p:txBody>
      </p:sp>
      <p:sp>
        <p:nvSpPr>
          <p:cNvPr id="19" name="TextBox 18"/>
          <p:cNvSpPr txBox="1"/>
          <p:nvPr/>
        </p:nvSpPr>
        <p:spPr>
          <a:xfrm>
            <a:off x="8287512" y="2359152"/>
            <a:ext cx="3279648" cy="43891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5 locked seeds in raw_runs.csv</a:t>
            </a:r>
          </a:p>
        </p:txBody>
      </p:sp>
      <p:sp>
        <p:nvSpPr>
          <p:cNvPr id="20" name="Rounded Rectangle 19"/>
          <p:cNvSpPr/>
          <p:nvPr/>
        </p:nvSpPr>
        <p:spPr>
          <a:xfrm>
            <a:off x="502920"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Low demand</a:t>
            </a:r>
          </a:p>
        </p:txBody>
      </p:sp>
      <p:sp>
        <p:nvSpPr>
          <p:cNvPr id="22" name="TextBox 21"/>
          <p:cNvSpPr txBox="1"/>
          <p:nvPr/>
        </p:nvSpPr>
        <p:spPr>
          <a:xfrm>
            <a:off x="667512"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150 veh/h on every approach.</a:t>
            </a:r>
          </a:p>
        </p:txBody>
      </p:sp>
      <p:sp>
        <p:nvSpPr>
          <p:cNvPr id="23" name="Rounded Rectangle 22"/>
          <p:cNvSpPr/>
          <p:nvPr/>
        </p:nvSpPr>
        <p:spPr>
          <a:xfrm>
            <a:off x="3346704"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11296"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Shifting</a:t>
            </a:r>
          </a:p>
        </p:txBody>
      </p:sp>
      <p:sp>
        <p:nvSpPr>
          <p:cNvPr id="25" name="TextBox 24"/>
          <p:cNvSpPr txBox="1"/>
          <p:nvPr/>
        </p:nvSpPr>
        <p:spPr>
          <a:xfrm>
            <a:off x="3511296"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The heavy axis swaps every 20 min. 680 against 200 veh/h.</a:t>
            </a:r>
          </a:p>
        </p:txBody>
      </p:sp>
      <p:sp>
        <p:nvSpPr>
          <p:cNvPr id="26" name="Rounded Rectangle 25"/>
          <p:cNvSpPr/>
          <p:nvPr/>
        </p:nvSpPr>
        <p:spPr>
          <a:xfrm>
            <a:off x="6190488"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79"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Peak, one-sided</a:t>
            </a:r>
          </a:p>
        </p:txBody>
      </p:sp>
      <p:sp>
        <p:nvSpPr>
          <p:cNvPr id="28" name="TextBox 27"/>
          <p:cNvSpPr txBox="1"/>
          <p:nvPr/>
        </p:nvSpPr>
        <p:spPr>
          <a:xfrm>
            <a:off x="6355079"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North–south 720 veh/h. East–west 180.</a:t>
            </a:r>
          </a:p>
        </p:txBody>
      </p:sp>
      <p:sp>
        <p:nvSpPr>
          <p:cNvPr id="29" name="Rounded Rectangle 28"/>
          <p:cNvSpPr/>
          <p:nvPr/>
        </p:nvSpPr>
        <p:spPr>
          <a:xfrm>
            <a:off x="9034272"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98864"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Balanced</a:t>
            </a:r>
          </a:p>
        </p:txBody>
      </p:sp>
      <p:sp>
        <p:nvSpPr>
          <p:cNvPr id="31" name="TextBox 30"/>
          <p:cNvSpPr txBox="1"/>
          <p:nvPr/>
        </p:nvSpPr>
        <p:spPr>
          <a:xfrm>
            <a:off x="9198864"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480 veh/h on every approach.</a:t>
            </a:r>
          </a:p>
        </p:txBody>
      </p:sp>
      <p:sp>
        <p:nvSpPr>
          <p:cNvPr id="32" name="TextBox 31"/>
          <p:cNvSpPr txBox="1"/>
          <p:nvPr/>
        </p:nvSpPr>
        <p:spPr>
          <a:xfrm>
            <a:off x="502920" y="5029200"/>
            <a:ext cx="11228832"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Compared with Fixed time, Tuned fixed, Webster, Actuated, Queue pressure, Max-pressure, Count only. PPO was trained to the config budget and is not in this TEST table.</a:t>
            </a:r>
          </a:p>
        </p:txBody>
      </p:sp>
      <p:sp>
        <p:nvSpPr>
          <p:cNvPr id="33" name="TextBox 32"/>
          <p:cNvSpPr txBox="1"/>
          <p:nvPr/>
        </p:nvSpPr>
        <p:spPr>
          <a:xfrm>
            <a:off x="502920" y="5669280"/>
            <a:ext cx="11228832" cy="32004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Sublane probe used. Full-demand stability under that setting is not re-claimed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TEST SET</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Small edge vs the strongest baseline (0.3–1.9%)</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Fuel vs best tuned baseline is only 0.3–1.9% (5 paired seeds; Holm p=1). Large cuts are vs fixed / Webster / actuated, not class fuel weights.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07</a:t>
            </a:r>
          </a:p>
        </p:txBody>
      </p:sp>
      <p:sp>
        <p:nvSpPr>
          <p:cNvPr id="8" name="Rounded Rectangle 7"/>
          <p:cNvSpPr/>
          <p:nvPr/>
        </p:nvSpPr>
        <p:spPr>
          <a:xfrm>
            <a:off x="502920"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Low demand</a:t>
            </a:r>
          </a:p>
        </p:txBody>
      </p:sp>
      <p:sp>
        <p:nvSpPr>
          <p:cNvPr id="11" name="TextBox 10"/>
          <p:cNvSpPr txBox="1"/>
          <p:nvPr/>
        </p:nvSpPr>
        <p:spPr>
          <a:xfrm>
            <a:off x="704088"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1.9</a:t>
            </a:r>
            <a:r>
              <a:rPr sz="1600" b="1" i="0">
                <a:solidFill>
                  <a:srgbClr val="1B6B5A"/>
                </a:solidFill>
                <a:latin typeface="Georgia"/>
                <a:ea typeface="Georgia"/>
                <a:cs typeface="Georgia"/>
              </a:rPr>
              <a:t>%</a:t>
            </a:r>
          </a:p>
        </p:txBody>
      </p:sp>
      <p:sp>
        <p:nvSpPr>
          <p:cNvPr id="12" name="TextBox 11"/>
          <p:cNvSpPr txBox="1"/>
          <p:nvPr/>
        </p:nvSpPr>
        <p:spPr>
          <a:xfrm>
            <a:off x="704088"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0.5  –  3.0</a:t>
            </a:r>
          </a:p>
        </p:txBody>
      </p:sp>
      <p:sp>
        <p:nvSpPr>
          <p:cNvPr id="13" name="TextBox 12"/>
          <p:cNvSpPr txBox="1"/>
          <p:nvPr/>
        </p:nvSpPr>
        <p:spPr>
          <a:xfrm>
            <a:off x="704088"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14" name="TextBox 13"/>
          <p:cNvSpPr txBox="1"/>
          <p:nvPr/>
        </p:nvSpPr>
        <p:spPr>
          <a:xfrm>
            <a:off x="704088"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14.1%</a:t>
            </a:r>
          </a:p>
        </p:txBody>
      </p:sp>
      <p:sp>
        <p:nvSpPr>
          <p:cNvPr id="15" name="Rectangle 14"/>
          <p:cNvSpPr/>
          <p:nvPr/>
        </p:nvSpPr>
        <p:spPr>
          <a:xfrm>
            <a:off x="722376"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 y="4709160"/>
            <a:ext cx="2258568"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46704"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66160"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7872"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Shifting</a:t>
            </a:r>
          </a:p>
        </p:txBody>
      </p:sp>
      <p:sp>
        <p:nvSpPr>
          <p:cNvPr id="20" name="TextBox 19"/>
          <p:cNvSpPr txBox="1"/>
          <p:nvPr/>
        </p:nvSpPr>
        <p:spPr>
          <a:xfrm>
            <a:off x="3547872"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1.1</a:t>
            </a:r>
            <a:r>
              <a:rPr sz="1600" b="1" i="0">
                <a:solidFill>
                  <a:srgbClr val="1B6B5A"/>
                </a:solidFill>
                <a:latin typeface="Georgia"/>
                <a:ea typeface="Georgia"/>
                <a:cs typeface="Georgia"/>
              </a:rPr>
              <a:t>%</a:t>
            </a:r>
          </a:p>
        </p:txBody>
      </p:sp>
      <p:sp>
        <p:nvSpPr>
          <p:cNvPr id="21" name="TextBox 20"/>
          <p:cNvSpPr txBox="1"/>
          <p:nvPr/>
        </p:nvSpPr>
        <p:spPr>
          <a:xfrm>
            <a:off x="3547872"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0.6  –  1.7</a:t>
            </a:r>
          </a:p>
        </p:txBody>
      </p:sp>
      <p:sp>
        <p:nvSpPr>
          <p:cNvPr id="22" name="TextBox 21"/>
          <p:cNvSpPr txBox="1"/>
          <p:nvPr/>
        </p:nvSpPr>
        <p:spPr>
          <a:xfrm>
            <a:off x="3547872"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23" name="TextBox 22"/>
          <p:cNvSpPr txBox="1"/>
          <p:nvPr/>
        </p:nvSpPr>
        <p:spPr>
          <a:xfrm>
            <a:off x="3547872"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13.2%</a:t>
            </a:r>
          </a:p>
        </p:txBody>
      </p:sp>
      <p:sp>
        <p:nvSpPr>
          <p:cNvPr id="24" name="Rectangle 23"/>
          <p:cNvSpPr/>
          <p:nvPr/>
        </p:nvSpPr>
        <p:spPr>
          <a:xfrm>
            <a:off x="3566160"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66160" y="4709160"/>
            <a:ext cx="1289076"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90488"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9944"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91655"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Peak, one-sided</a:t>
            </a:r>
          </a:p>
        </p:txBody>
      </p:sp>
      <p:sp>
        <p:nvSpPr>
          <p:cNvPr id="29" name="TextBox 28"/>
          <p:cNvSpPr txBox="1"/>
          <p:nvPr/>
        </p:nvSpPr>
        <p:spPr>
          <a:xfrm>
            <a:off x="6391655"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0.7</a:t>
            </a:r>
            <a:r>
              <a:rPr sz="1600" b="1" i="0">
                <a:solidFill>
                  <a:srgbClr val="1B6B5A"/>
                </a:solidFill>
                <a:latin typeface="Georgia"/>
                <a:ea typeface="Georgia"/>
                <a:cs typeface="Georgia"/>
              </a:rPr>
              <a:t>%</a:t>
            </a:r>
          </a:p>
        </p:txBody>
      </p:sp>
      <p:sp>
        <p:nvSpPr>
          <p:cNvPr id="30" name="TextBox 29"/>
          <p:cNvSpPr txBox="1"/>
          <p:nvPr/>
        </p:nvSpPr>
        <p:spPr>
          <a:xfrm>
            <a:off x="6391655"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-0.4  –  1.8</a:t>
            </a:r>
          </a:p>
        </p:txBody>
      </p:sp>
      <p:sp>
        <p:nvSpPr>
          <p:cNvPr id="31" name="TextBox 30"/>
          <p:cNvSpPr txBox="1"/>
          <p:nvPr/>
        </p:nvSpPr>
        <p:spPr>
          <a:xfrm>
            <a:off x="6391655"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32" name="TextBox 31"/>
          <p:cNvSpPr txBox="1"/>
          <p:nvPr/>
        </p:nvSpPr>
        <p:spPr>
          <a:xfrm>
            <a:off x="6391655"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17.5%</a:t>
            </a:r>
          </a:p>
        </p:txBody>
      </p:sp>
      <p:sp>
        <p:nvSpPr>
          <p:cNvPr id="33" name="Rectangle 32"/>
          <p:cNvSpPr/>
          <p:nvPr/>
        </p:nvSpPr>
        <p:spPr>
          <a:xfrm>
            <a:off x="6409944"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9944" y="4709160"/>
            <a:ext cx="813082"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034272"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53728"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0"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Balanced</a:t>
            </a:r>
          </a:p>
        </p:txBody>
      </p:sp>
      <p:sp>
        <p:nvSpPr>
          <p:cNvPr id="38" name="TextBox 37"/>
          <p:cNvSpPr txBox="1"/>
          <p:nvPr/>
        </p:nvSpPr>
        <p:spPr>
          <a:xfrm>
            <a:off x="9235440"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0.3</a:t>
            </a:r>
            <a:r>
              <a:rPr sz="1600" b="1" i="0">
                <a:solidFill>
                  <a:srgbClr val="1B6B5A"/>
                </a:solidFill>
                <a:latin typeface="Georgia"/>
                <a:ea typeface="Georgia"/>
                <a:cs typeface="Georgia"/>
              </a:rPr>
              <a:t>%</a:t>
            </a:r>
          </a:p>
        </p:txBody>
      </p:sp>
      <p:sp>
        <p:nvSpPr>
          <p:cNvPr id="39" name="TextBox 38"/>
          <p:cNvSpPr txBox="1"/>
          <p:nvPr/>
        </p:nvSpPr>
        <p:spPr>
          <a:xfrm>
            <a:off x="9235440"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-0.4  –  1.0</a:t>
            </a:r>
          </a:p>
        </p:txBody>
      </p:sp>
      <p:sp>
        <p:nvSpPr>
          <p:cNvPr id="40" name="TextBox 39"/>
          <p:cNvSpPr txBox="1"/>
          <p:nvPr/>
        </p:nvSpPr>
        <p:spPr>
          <a:xfrm>
            <a:off x="9235440"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41" name="TextBox 40"/>
          <p:cNvSpPr txBox="1"/>
          <p:nvPr/>
        </p:nvSpPr>
        <p:spPr>
          <a:xfrm>
            <a:off x="9235440"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7.9%</a:t>
            </a:r>
          </a:p>
        </p:txBody>
      </p:sp>
      <p:sp>
        <p:nvSpPr>
          <p:cNvPr id="42" name="Rectangle 41"/>
          <p:cNvSpPr/>
          <p:nvPr/>
        </p:nvSpPr>
        <p:spPr>
          <a:xfrm>
            <a:off x="9253728"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53728" y="4709160"/>
            <a:ext cx="348315"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2920" y="5349240"/>
            <a:ext cx="11228832" cy="914400"/>
          </a:xfrm>
          <a:prstGeom prst="roundRect">
            <a:avLst>
              <a:gd name="adj" fmla="val 8000"/>
            </a:avLst>
          </a:prstGeom>
          <a:solidFill>
            <a:srgbClr val="E5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8952" y="5596128"/>
            <a:ext cx="10771632" cy="457200"/>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Mean fuel is lower than the best baseline in every scenario. Some 95% intervals still cross zero — read the interval, not only the point estimate.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HONEST COMPARISON</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Versus strong adaptive controllers, the edge is small</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Against max-pressure / queue_pressure the cut is 0.3–1.9% (and those two matched bit-for-bit in this publish). Legacy fixed is the easy win.</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08</a:t>
            </a:r>
          </a:p>
        </p:txBody>
      </p:sp>
      <p:sp>
        <p:nvSpPr>
          <p:cNvPr id="8" name="Rectangle 7"/>
          <p:cNvSpPr/>
          <p:nvPr/>
        </p:nvSpPr>
        <p:spPr>
          <a:xfrm>
            <a:off x="502920" y="1572768"/>
            <a:ext cx="11228832" cy="420624"/>
          </a:xfrm>
          <a:prstGeom prst="rect">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Scenario</a:t>
            </a:r>
          </a:p>
        </p:txBody>
      </p:sp>
      <p:sp>
        <p:nvSpPr>
          <p:cNvPr id="10" name="TextBox 9"/>
          <p:cNvSpPr txBox="1"/>
          <p:nvPr/>
        </p:nvSpPr>
        <p:spPr>
          <a:xfrm>
            <a:off x="276148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legacy fixed</a:t>
            </a:r>
          </a:p>
        </p:txBody>
      </p:sp>
      <p:sp>
        <p:nvSpPr>
          <p:cNvPr id="11" name="TextBox 10"/>
          <p:cNvSpPr txBox="1"/>
          <p:nvPr/>
        </p:nvSpPr>
        <p:spPr>
          <a:xfrm>
            <a:off x="491032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tuned fixed</a:t>
            </a:r>
          </a:p>
        </p:txBody>
      </p:sp>
      <p:sp>
        <p:nvSpPr>
          <p:cNvPr id="12" name="TextBox 11"/>
          <p:cNvSpPr txBox="1"/>
          <p:nvPr/>
        </p:nvSpPr>
        <p:spPr>
          <a:xfrm>
            <a:off x="705916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actuated</a:t>
            </a:r>
          </a:p>
        </p:txBody>
      </p:sp>
      <p:sp>
        <p:nvSpPr>
          <p:cNvPr id="13" name="TextBox 12"/>
          <p:cNvSpPr txBox="1"/>
          <p:nvPr/>
        </p:nvSpPr>
        <p:spPr>
          <a:xfrm>
            <a:off x="9208007" y="1572768"/>
            <a:ext cx="2487168"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max-pressure</a:t>
            </a:r>
          </a:p>
        </p:txBody>
      </p:sp>
      <p:sp>
        <p:nvSpPr>
          <p:cNvPr id="14" name="Rectangle 13"/>
          <p:cNvSpPr/>
          <p:nvPr/>
        </p:nvSpPr>
        <p:spPr>
          <a:xfrm>
            <a:off x="502920" y="1993392"/>
            <a:ext cx="1122883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1993392"/>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Low demand</a:t>
            </a:r>
          </a:p>
        </p:txBody>
      </p:sp>
      <p:sp>
        <p:nvSpPr>
          <p:cNvPr id="16" name="TextBox 15"/>
          <p:cNvSpPr txBox="1"/>
          <p:nvPr/>
        </p:nvSpPr>
        <p:spPr>
          <a:xfrm>
            <a:off x="2724912" y="2066544"/>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14.1%</a:t>
            </a:r>
          </a:p>
        </p:txBody>
      </p:sp>
      <p:sp>
        <p:nvSpPr>
          <p:cNvPr id="17" name="TextBox 16"/>
          <p:cNvSpPr txBox="1"/>
          <p:nvPr/>
        </p:nvSpPr>
        <p:spPr>
          <a:xfrm>
            <a:off x="2706624" y="2359152"/>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12.7 – 15.5</a:t>
            </a:r>
          </a:p>
        </p:txBody>
      </p:sp>
      <p:sp>
        <p:nvSpPr>
          <p:cNvPr id="18" name="TextBox 17"/>
          <p:cNvSpPr txBox="1"/>
          <p:nvPr/>
        </p:nvSpPr>
        <p:spPr>
          <a:xfrm>
            <a:off x="4873752" y="2066544"/>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12.1%</a:t>
            </a:r>
          </a:p>
        </p:txBody>
      </p:sp>
      <p:sp>
        <p:nvSpPr>
          <p:cNvPr id="19" name="TextBox 18"/>
          <p:cNvSpPr txBox="1"/>
          <p:nvPr/>
        </p:nvSpPr>
        <p:spPr>
          <a:xfrm>
            <a:off x="4855464" y="2359152"/>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11.4 – 12.8</a:t>
            </a:r>
          </a:p>
        </p:txBody>
      </p:sp>
      <p:sp>
        <p:nvSpPr>
          <p:cNvPr id="20" name="TextBox 19"/>
          <p:cNvSpPr txBox="1"/>
          <p:nvPr/>
        </p:nvSpPr>
        <p:spPr>
          <a:xfrm>
            <a:off x="7022592" y="2066544"/>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10.7%</a:t>
            </a:r>
          </a:p>
        </p:txBody>
      </p:sp>
      <p:sp>
        <p:nvSpPr>
          <p:cNvPr id="21" name="TextBox 20"/>
          <p:cNvSpPr txBox="1"/>
          <p:nvPr/>
        </p:nvSpPr>
        <p:spPr>
          <a:xfrm>
            <a:off x="7004303" y="2359152"/>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9.0 – 12.4</a:t>
            </a:r>
          </a:p>
        </p:txBody>
      </p:sp>
      <p:sp>
        <p:nvSpPr>
          <p:cNvPr id="22" name="TextBox 21"/>
          <p:cNvSpPr txBox="1"/>
          <p:nvPr/>
        </p:nvSpPr>
        <p:spPr>
          <a:xfrm>
            <a:off x="9171432" y="2066544"/>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1.9%</a:t>
            </a:r>
          </a:p>
        </p:txBody>
      </p:sp>
      <p:sp>
        <p:nvSpPr>
          <p:cNvPr id="23" name="TextBox 22"/>
          <p:cNvSpPr txBox="1"/>
          <p:nvPr/>
        </p:nvSpPr>
        <p:spPr>
          <a:xfrm>
            <a:off x="9153144" y="2359152"/>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0.5 – 3.0</a:t>
            </a:r>
          </a:p>
        </p:txBody>
      </p:sp>
      <p:sp>
        <p:nvSpPr>
          <p:cNvPr id="24" name="Rectangle 23"/>
          <p:cNvSpPr/>
          <p:nvPr/>
        </p:nvSpPr>
        <p:spPr>
          <a:xfrm>
            <a:off x="502920" y="2706624"/>
            <a:ext cx="11228832" cy="713232"/>
          </a:xfrm>
          <a:prstGeom prst="rect">
            <a:avLst/>
          </a:prstGeom>
          <a:solidFill>
            <a:srgbClr val="FB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 y="2706624"/>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Shifting</a:t>
            </a:r>
          </a:p>
        </p:txBody>
      </p:sp>
      <p:sp>
        <p:nvSpPr>
          <p:cNvPr id="26" name="TextBox 25"/>
          <p:cNvSpPr txBox="1"/>
          <p:nvPr/>
        </p:nvSpPr>
        <p:spPr>
          <a:xfrm>
            <a:off x="2724912" y="2779776"/>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13.2%</a:t>
            </a:r>
          </a:p>
        </p:txBody>
      </p:sp>
      <p:sp>
        <p:nvSpPr>
          <p:cNvPr id="27" name="TextBox 26"/>
          <p:cNvSpPr txBox="1"/>
          <p:nvPr/>
        </p:nvSpPr>
        <p:spPr>
          <a:xfrm>
            <a:off x="2706624" y="3072384"/>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12.3 – 14.3</a:t>
            </a:r>
          </a:p>
        </p:txBody>
      </p:sp>
      <p:sp>
        <p:nvSpPr>
          <p:cNvPr id="28" name="TextBox 27"/>
          <p:cNvSpPr txBox="1"/>
          <p:nvPr/>
        </p:nvSpPr>
        <p:spPr>
          <a:xfrm>
            <a:off x="4873752" y="2779776"/>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17.0%</a:t>
            </a:r>
          </a:p>
        </p:txBody>
      </p:sp>
      <p:sp>
        <p:nvSpPr>
          <p:cNvPr id="29" name="TextBox 28"/>
          <p:cNvSpPr txBox="1"/>
          <p:nvPr/>
        </p:nvSpPr>
        <p:spPr>
          <a:xfrm>
            <a:off x="4855464" y="3072384"/>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15.1 – 18.9</a:t>
            </a:r>
          </a:p>
        </p:txBody>
      </p:sp>
      <p:sp>
        <p:nvSpPr>
          <p:cNvPr id="30" name="TextBox 29"/>
          <p:cNvSpPr txBox="1"/>
          <p:nvPr/>
        </p:nvSpPr>
        <p:spPr>
          <a:xfrm>
            <a:off x="7022592" y="2779776"/>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8.5%</a:t>
            </a:r>
          </a:p>
        </p:txBody>
      </p:sp>
      <p:sp>
        <p:nvSpPr>
          <p:cNvPr id="31" name="TextBox 30"/>
          <p:cNvSpPr txBox="1"/>
          <p:nvPr/>
        </p:nvSpPr>
        <p:spPr>
          <a:xfrm>
            <a:off x="7004303" y="3072384"/>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7.8 – 9.2</a:t>
            </a:r>
          </a:p>
        </p:txBody>
      </p:sp>
      <p:sp>
        <p:nvSpPr>
          <p:cNvPr id="32" name="TextBox 31"/>
          <p:cNvSpPr txBox="1"/>
          <p:nvPr/>
        </p:nvSpPr>
        <p:spPr>
          <a:xfrm>
            <a:off x="9171432" y="2779776"/>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1.1%</a:t>
            </a:r>
          </a:p>
        </p:txBody>
      </p:sp>
      <p:sp>
        <p:nvSpPr>
          <p:cNvPr id="33" name="TextBox 32"/>
          <p:cNvSpPr txBox="1"/>
          <p:nvPr/>
        </p:nvSpPr>
        <p:spPr>
          <a:xfrm>
            <a:off x="9153144" y="3072384"/>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0.6 – 1.7</a:t>
            </a:r>
          </a:p>
        </p:txBody>
      </p:sp>
      <p:sp>
        <p:nvSpPr>
          <p:cNvPr id="34" name="Rectangle 33"/>
          <p:cNvSpPr/>
          <p:nvPr/>
        </p:nvSpPr>
        <p:spPr>
          <a:xfrm>
            <a:off x="502920" y="3419856"/>
            <a:ext cx="1122883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 y="3419856"/>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Peak, one-sided</a:t>
            </a:r>
          </a:p>
        </p:txBody>
      </p:sp>
      <p:sp>
        <p:nvSpPr>
          <p:cNvPr id="36" name="TextBox 35"/>
          <p:cNvSpPr txBox="1"/>
          <p:nvPr/>
        </p:nvSpPr>
        <p:spPr>
          <a:xfrm>
            <a:off x="2724912" y="3493008"/>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17.5%</a:t>
            </a:r>
          </a:p>
        </p:txBody>
      </p:sp>
      <p:sp>
        <p:nvSpPr>
          <p:cNvPr id="37" name="TextBox 36"/>
          <p:cNvSpPr txBox="1"/>
          <p:nvPr/>
        </p:nvSpPr>
        <p:spPr>
          <a:xfrm>
            <a:off x="2706624" y="3785616"/>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14.4 – 20.3</a:t>
            </a:r>
          </a:p>
        </p:txBody>
      </p:sp>
      <p:sp>
        <p:nvSpPr>
          <p:cNvPr id="38" name="TextBox 37"/>
          <p:cNvSpPr txBox="1"/>
          <p:nvPr/>
        </p:nvSpPr>
        <p:spPr>
          <a:xfrm>
            <a:off x="4873752" y="3493008"/>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9.6%</a:t>
            </a:r>
          </a:p>
        </p:txBody>
      </p:sp>
      <p:sp>
        <p:nvSpPr>
          <p:cNvPr id="39" name="TextBox 38"/>
          <p:cNvSpPr txBox="1"/>
          <p:nvPr/>
        </p:nvSpPr>
        <p:spPr>
          <a:xfrm>
            <a:off x="4855464" y="3785616"/>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8.0 – 11.2</a:t>
            </a:r>
          </a:p>
        </p:txBody>
      </p:sp>
      <p:sp>
        <p:nvSpPr>
          <p:cNvPr id="40" name="TextBox 39"/>
          <p:cNvSpPr txBox="1"/>
          <p:nvPr/>
        </p:nvSpPr>
        <p:spPr>
          <a:xfrm>
            <a:off x="7022592" y="3493008"/>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8.5%</a:t>
            </a:r>
          </a:p>
        </p:txBody>
      </p:sp>
      <p:sp>
        <p:nvSpPr>
          <p:cNvPr id="41" name="TextBox 40"/>
          <p:cNvSpPr txBox="1"/>
          <p:nvPr/>
        </p:nvSpPr>
        <p:spPr>
          <a:xfrm>
            <a:off x="7004303" y="3785616"/>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6.6 – 10.0</a:t>
            </a:r>
          </a:p>
        </p:txBody>
      </p:sp>
      <p:sp>
        <p:nvSpPr>
          <p:cNvPr id="42" name="TextBox 41"/>
          <p:cNvSpPr txBox="1"/>
          <p:nvPr/>
        </p:nvSpPr>
        <p:spPr>
          <a:xfrm>
            <a:off x="9171432" y="3493008"/>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0.7%</a:t>
            </a:r>
          </a:p>
        </p:txBody>
      </p:sp>
      <p:sp>
        <p:nvSpPr>
          <p:cNvPr id="43" name="TextBox 42"/>
          <p:cNvSpPr txBox="1"/>
          <p:nvPr/>
        </p:nvSpPr>
        <p:spPr>
          <a:xfrm>
            <a:off x="9153144" y="3785616"/>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-0.4 – 1.8</a:t>
            </a:r>
          </a:p>
        </p:txBody>
      </p:sp>
      <p:sp>
        <p:nvSpPr>
          <p:cNvPr id="44" name="Rectangle 43"/>
          <p:cNvSpPr/>
          <p:nvPr/>
        </p:nvSpPr>
        <p:spPr>
          <a:xfrm>
            <a:off x="502920" y="4133087"/>
            <a:ext cx="11228832" cy="713232"/>
          </a:xfrm>
          <a:prstGeom prst="rect">
            <a:avLst/>
          </a:prstGeom>
          <a:solidFill>
            <a:srgbClr val="FB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 y="4133087"/>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Balanced</a:t>
            </a:r>
          </a:p>
        </p:txBody>
      </p:sp>
      <p:sp>
        <p:nvSpPr>
          <p:cNvPr id="46" name="TextBox 45"/>
          <p:cNvSpPr txBox="1"/>
          <p:nvPr/>
        </p:nvSpPr>
        <p:spPr>
          <a:xfrm>
            <a:off x="2724912" y="4206240"/>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7.9%</a:t>
            </a:r>
          </a:p>
        </p:txBody>
      </p:sp>
      <p:sp>
        <p:nvSpPr>
          <p:cNvPr id="47" name="TextBox 46"/>
          <p:cNvSpPr txBox="1"/>
          <p:nvPr/>
        </p:nvSpPr>
        <p:spPr>
          <a:xfrm>
            <a:off x="2706624" y="4498848"/>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6.7 – 9.1</a:t>
            </a:r>
          </a:p>
        </p:txBody>
      </p:sp>
      <p:sp>
        <p:nvSpPr>
          <p:cNvPr id="48" name="TextBox 47"/>
          <p:cNvSpPr txBox="1"/>
          <p:nvPr/>
        </p:nvSpPr>
        <p:spPr>
          <a:xfrm>
            <a:off x="4873752" y="4206240"/>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7.6%</a:t>
            </a:r>
          </a:p>
        </p:txBody>
      </p:sp>
      <p:sp>
        <p:nvSpPr>
          <p:cNvPr id="49" name="TextBox 48"/>
          <p:cNvSpPr txBox="1"/>
          <p:nvPr/>
        </p:nvSpPr>
        <p:spPr>
          <a:xfrm>
            <a:off x="4855464" y="4498848"/>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6.7 – 8.4</a:t>
            </a:r>
          </a:p>
        </p:txBody>
      </p:sp>
      <p:sp>
        <p:nvSpPr>
          <p:cNvPr id="50" name="TextBox 49"/>
          <p:cNvSpPr txBox="1"/>
          <p:nvPr/>
        </p:nvSpPr>
        <p:spPr>
          <a:xfrm>
            <a:off x="7022592" y="4206240"/>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4.8%</a:t>
            </a:r>
          </a:p>
        </p:txBody>
      </p:sp>
      <p:sp>
        <p:nvSpPr>
          <p:cNvPr id="51" name="TextBox 50"/>
          <p:cNvSpPr txBox="1"/>
          <p:nvPr/>
        </p:nvSpPr>
        <p:spPr>
          <a:xfrm>
            <a:off x="7004303" y="4498848"/>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4.3 – 5.3</a:t>
            </a:r>
          </a:p>
        </p:txBody>
      </p:sp>
      <p:sp>
        <p:nvSpPr>
          <p:cNvPr id="52" name="TextBox 51"/>
          <p:cNvSpPr txBox="1"/>
          <p:nvPr/>
        </p:nvSpPr>
        <p:spPr>
          <a:xfrm>
            <a:off x="9171432" y="4206240"/>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0.3%</a:t>
            </a:r>
          </a:p>
        </p:txBody>
      </p:sp>
      <p:sp>
        <p:nvSpPr>
          <p:cNvPr id="53" name="TextBox 52"/>
          <p:cNvSpPr txBox="1"/>
          <p:nvPr/>
        </p:nvSpPr>
        <p:spPr>
          <a:xfrm>
            <a:off x="9153144" y="4498848"/>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-0.4 – 1.0</a:t>
            </a:r>
          </a:p>
        </p:txBody>
      </p:sp>
      <p:sp>
        <p:nvSpPr>
          <p:cNvPr id="54" name="Rounded Rectangle 53"/>
          <p:cNvSpPr/>
          <p:nvPr/>
        </p:nvSpPr>
        <p:spPr>
          <a:xfrm>
            <a:off x="502920" y="4992624"/>
            <a:ext cx="11228832" cy="868680"/>
          </a:xfrm>
          <a:prstGeom prst="roundRect">
            <a:avLst>
              <a:gd name="adj" fmla="val 8000"/>
            </a:avLst>
          </a:prstGeom>
          <a:solidFill>
            <a:srgbClr val="FB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2376" y="5120640"/>
            <a:ext cx="10817352" cy="6400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Versus max-pressure: 0.3% to 1.9%. Some intervals still cross zero. Versus the count-only ablation: 0.1% to 2.0%. PPO is trained but not scored in this TEST 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WHAT CHANGES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Shorter waits, shorter queues, less CO₂</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Peak, one-sided on the locked test. Completed trips match fixed time (1,801).</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09</a:t>
            </a:r>
          </a:p>
        </p:txBody>
      </p:sp>
      <p:sp>
        <p:nvSpPr>
          <p:cNvPr id="8" name="Rounded Rectangle 7"/>
          <p:cNvSpPr/>
          <p:nvPr/>
        </p:nvSpPr>
        <p:spPr>
          <a:xfrm>
            <a:off x="502920"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FUEL / VEHICLE</a:t>
            </a:r>
          </a:p>
        </p:txBody>
      </p:sp>
      <p:sp>
        <p:nvSpPr>
          <p:cNvPr id="10" name="TextBox 9"/>
          <p:cNvSpPr txBox="1"/>
          <p:nvPr/>
        </p:nvSpPr>
        <p:spPr>
          <a:xfrm>
            <a:off x="667512"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0.151 L</a:t>
            </a:r>
          </a:p>
        </p:txBody>
      </p:sp>
      <p:sp>
        <p:nvSpPr>
          <p:cNvPr id="11" name="TextBox 10"/>
          <p:cNvSpPr txBox="1"/>
          <p:nvPr/>
        </p:nvSpPr>
        <p:spPr>
          <a:xfrm>
            <a:off x="667512"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0.125 L</a:t>
            </a:r>
          </a:p>
        </p:txBody>
      </p:sp>
      <p:sp>
        <p:nvSpPr>
          <p:cNvPr id="12" name="TextBox 11"/>
          <p:cNvSpPr txBox="1"/>
          <p:nvPr/>
        </p:nvSpPr>
        <p:spPr>
          <a:xfrm>
            <a:off x="667512"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13" name="Rounded Rectangle 12"/>
          <p:cNvSpPr/>
          <p:nvPr/>
        </p:nvSpPr>
        <p:spPr>
          <a:xfrm>
            <a:off x="3346704"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1296"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MEAN WAIT</a:t>
            </a:r>
          </a:p>
        </p:txBody>
      </p:sp>
      <p:sp>
        <p:nvSpPr>
          <p:cNvPr id="15" name="TextBox 14"/>
          <p:cNvSpPr txBox="1"/>
          <p:nvPr/>
        </p:nvSpPr>
        <p:spPr>
          <a:xfrm>
            <a:off x="3511296"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37.0 s</a:t>
            </a:r>
          </a:p>
        </p:txBody>
      </p:sp>
      <p:sp>
        <p:nvSpPr>
          <p:cNvPr id="16" name="TextBox 15"/>
          <p:cNvSpPr txBox="1"/>
          <p:nvPr/>
        </p:nvSpPr>
        <p:spPr>
          <a:xfrm>
            <a:off x="3511296"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18.4 s</a:t>
            </a:r>
          </a:p>
        </p:txBody>
      </p:sp>
      <p:sp>
        <p:nvSpPr>
          <p:cNvPr id="17" name="TextBox 16"/>
          <p:cNvSpPr txBox="1"/>
          <p:nvPr/>
        </p:nvSpPr>
        <p:spPr>
          <a:xfrm>
            <a:off x="3511296"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18" name="Rounded Rectangle 17"/>
          <p:cNvSpPr/>
          <p:nvPr/>
        </p:nvSpPr>
        <p:spPr>
          <a:xfrm>
            <a:off x="6190488"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MEAN QUEUE</a:t>
            </a:r>
          </a:p>
        </p:txBody>
      </p:sp>
      <p:sp>
        <p:nvSpPr>
          <p:cNvPr id="20" name="TextBox 19"/>
          <p:cNvSpPr txBox="1"/>
          <p:nvPr/>
        </p:nvSpPr>
        <p:spPr>
          <a:xfrm>
            <a:off x="6355079"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17.5 veh</a:t>
            </a:r>
          </a:p>
        </p:txBody>
      </p:sp>
      <p:sp>
        <p:nvSpPr>
          <p:cNvPr id="21" name="TextBox 20"/>
          <p:cNvSpPr txBox="1"/>
          <p:nvPr/>
        </p:nvSpPr>
        <p:spPr>
          <a:xfrm>
            <a:off x="6355079"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9.0 veh</a:t>
            </a:r>
          </a:p>
        </p:txBody>
      </p:sp>
      <p:sp>
        <p:nvSpPr>
          <p:cNvPr id="22" name="TextBox 21"/>
          <p:cNvSpPr txBox="1"/>
          <p:nvPr/>
        </p:nvSpPr>
        <p:spPr>
          <a:xfrm>
            <a:off x="6355079"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23" name="Rounded Rectangle 22"/>
          <p:cNvSpPr/>
          <p:nvPr/>
        </p:nvSpPr>
        <p:spPr>
          <a:xfrm>
            <a:off x="9034272"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98864"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CO₂</a:t>
            </a:r>
          </a:p>
        </p:txBody>
      </p:sp>
      <p:sp>
        <p:nvSpPr>
          <p:cNvPr id="25" name="TextBox 24"/>
          <p:cNvSpPr txBox="1"/>
          <p:nvPr/>
        </p:nvSpPr>
        <p:spPr>
          <a:xfrm>
            <a:off x="9198864"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679 kg</a:t>
            </a:r>
          </a:p>
        </p:txBody>
      </p:sp>
      <p:sp>
        <p:nvSpPr>
          <p:cNvPr id="26" name="TextBox 25"/>
          <p:cNvSpPr txBox="1"/>
          <p:nvPr/>
        </p:nvSpPr>
        <p:spPr>
          <a:xfrm>
            <a:off x="9198864"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560 kg</a:t>
            </a:r>
          </a:p>
        </p:txBody>
      </p:sp>
      <p:sp>
        <p:nvSpPr>
          <p:cNvPr id="27" name="TextBox 26"/>
          <p:cNvSpPr txBox="1"/>
          <p:nvPr/>
        </p:nvSpPr>
        <p:spPr>
          <a:xfrm>
            <a:off x="9198864"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28" name="TextBox 27"/>
          <p:cNvSpPr txBox="1"/>
          <p:nvPr/>
        </p:nvSpPr>
        <p:spPr>
          <a:xfrm>
            <a:off x="502920" y="3767328"/>
            <a:ext cx="1122883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WAITING TIME ON THE OTHER SCENARIOS</a:t>
            </a:r>
          </a:p>
        </p:txBody>
      </p:sp>
      <p:sp>
        <p:nvSpPr>
          <p:cNvPr id="29" name="Rounded Rectangle 28"/>
          <p:cNvSpPr/>
          <p:nvPr/>
        </p:nvSpPr>
        <p:spPr>
          <a:xfrm>
            <a:off x="502920" y="4096512"/>
            <a:ext cx="11228832" cy="56692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4096512"/>
            <a:ext cx="2926080" cy="566928"/>
          </a:xfrm>
          <a:prstGeom prst="rect">
            <a:avLst/>
          </a:prstGeom>
          <a:noFill/>
        </p:spPr>
        <p:txBody>
          <a:bodyPr wrap="square" lIns="0" rIns="0" tIns="0" bIns="0" anchor="ctr"/>
          <a:lstStyle/>
          <a:p>
            <a:pPr algn="l">
              <a:spcBef>
                <a:spcPts val="0"/>
              </a:spcBef>
              <a:spcAft>
                <a:spcPts val="0"/>
              </a:spcAft>
            </a:pPr>
            <a:r>
              <a:rPr sz="1500" b="1" i="0">
                <a:solidFill>
                  <a:srgbClr val="1A2834"/>
                </a:solidFill>
                <a:latin typeface="Calibri"/>
                <a:ea typeface="Calibri"/>
                <a:cs typeface="Calibri"/>
              </a:rPr>
              <a:t>Low demand</a:t>
            </a:r>
          </a:p>
        </p:txBody>
      </p:sp>
      <p:sp>
        <p:nvSpPr>
          <p:cNvPr id="31" name="TextBox 30"/>
          <p:cNvSpPr txBox="1"/>
          <p:nvPr/>
        </p:nvSpPr>
        <p:spPr>
          <a:xfrm>
            <a:off x="3611880" y="4096512"/>
            <a:ext cx="4937760" cy="566928"/>
          </a:xfrm>
          <a:prstGeom prst="rect">
            <a:avLst/>
          </a:prstGeom>
          <a:noFill/>
        </p:spPr>
        <p:txBody>
          <a:bodyPr wrap="square" lIns="0" rIns="0" tIns="0" bIns="0" anchor="ctr"/>
          <a:lstStyle/>
          <a:p>
            <a:pPr algn="l">
              <a:spcBef>
                <a:spcPts val="0"/>
              </a:spcBef>
              <a:spcAft>
                <a:spcPts val="0"/>
              </a:spcAft>
            </a:pPr>
            <a:r>
              <a:rPr sz="1500" b="0" i="0">
                <a:solidFill>
                  <a:srgbClr val="1A2834"/>
                </a:solidFill>
                <a:latin typeface="Calibri"/>
                <a:ea typeface="Calibri"/>
                <a:cs typeface="Calibri"/>
              </a:rPr>
              <a:t>27.2 s   to   16.2 s</a:t>
            </a:r>
          </a:p>
        </p:txBody>
      </p:sp>
      <p:sp>
        <p:nvSpPr>
          <p:cNvPr id="32" name="TextBox 31"/>
          <p:cNvSpPr txBox="1"/>
          <p:nvPr/>
        </p:nvSpPr>
        <p:spPr>
          <a:xfrm>
            <a:off x="8549640" y="4096512"/>
            <a:ext cx="2834640" cy="566928"/>
          </a:xfrm>
          <a:prstGeom prst="rect">
            <a:avLst/>
          </a:prstGeom>
          <a:noFill/>
        </p:spPr>
        <p:txBody>
          <a:bodyPr wrap="square" lIns="0" rIns="0" tIns="0" bIns="0" anchor="ctr"/>
          <a:lstStyle/>
          <a:p>
            <a:pPr algn="r">
              <a:spcBef>
                <a:spcPts val="0"/>
              </a:spcBef>
              <a:spcAft>
                <a:spcPts val="0"/>
              </a:spcAft>
            </a:pPr>
            <a:r>
              <a:rPr sz="1500" b="1" i="0">
                <a:solidFill>
                  <a:srgbClr val="1B6B5A"/>
                </a:solidFill>
                <a:latin typeface="Calibri"/>
                <a:ea typeface="Calibri"/>
                <a:cs typeface="Calibri"/>
              </a:rPr>
              <a:t>41% shorter</a:t>
            </a:r>
          </a:p>
        </p:txBody>
      </p:sp>
      <p:sp>
        <p:nvSpPr>
          <p:cNvPr id="33" name="Rounded Rectangle 32"/>
          <p:cNvSpPr/>
          <p:nvPr/>
        </p:nvSpPr>
        <p:spPr>
          <a:xfrm>
            <a:off x="502920" y="4754880"/>
            <a:ext cx="11228832" cy="56692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4754880"/>
            <a:ext cx="2926080" cy="566928"/>
          </a:xfrm>
          <a:prstGeom prst="rect">
            <a:avLst/>
          </a:prstGeom>
          <a:noFill/>
        </p:spPr>
        <p:txBody>
          <a:bodyPr wrap="square" lIns="0" rIns="0" tIns="0" bIns="0" anchor="ctr"/>
          <a:lstStyle/>
          <a:p>
            <a:pPr algn="l">
              <a:spcBef>
                <a:spcPts val="0"/>
              </a:spcBef>
              <a:spcAft>
                <a:spcPts val="0"/>
              </a:spcAft>
            </a:pPr>
            <a:r>
              <a:rPr sz="1500" b="1" i="0">
                <a:solidFill>
                  <a:srgbClr val="1A2834"/>
                </a:solidFill>
                <a:latin typeface="Calibri"/>
                <a:ea typeface="Calibri"/>
                <a:cs typeface="Calibri"/>
              </a:rPr>
              <a:t>Shifting</a:t>
            </a:r>
          </a:p>
        </p:txBody>
      </p:sp>
      <p:sp>
        <p:nvSpPr>
          <p:cNvPr id="35" name="TextBox 34"/>
          <p:cNvSpPr txBox="1"/>
          <p:nvPr/>
        </p:nvSpPr>
        <p:spPr>
          <a:xfrm>
            <a:off x="3611880" y="4754880"/>
            <a:ext cx="4937760" cy="566928"/>
          </a:xfrm>
          <a:prstGeom prst="rect">
            <a:avLst/>
          </a:prstGeom>
          <a:noFill/>
        </p:spPr>
        <p:txBody>
          <a:bodyPr wrap="square" lIns="0" rIns="0" tIns="0" bIns="0" anchor="ctr"/>
          <a:lstStyle/>
          <a:p>
            <a:pPr algn="l">
              <a:spcBef>
                <a:spcPts val="0"/>
              </a:spcBef>
              <a:spcAft>
                <a:spcPts val="0"/>
              </a:spcAft>
            </a:pPr>
            <a:r>
              <a:rPr sz="1500" b="0" i="0">
                <a:solidFill>
                  <a:srgbClr val="1A2834"/>
                </a:solidFill>
                <a:latin typeface="Calibri"/>
                <a:ea typeface="Calibri"/>
                <a:cs typeface="Calibri"/>
              </a:rPr>
              <a:t>32.2 s   to   18.8 s</a:t>
            </a:r>
          </a:p>
        </p:txBody>
      </p:sp>
      <p:sp>
        <p:nvSpPr>
          <p:cNvPr id="36" name="TextBox 35"/>
          <p:cNvSpPr txBox="1"/>
          <p:nvPr/>
        </p:nvSpPr>
        <p:spPr>
          <a:xfrm>
            <a:off x="8549640" y="4754880"/>
            <a:ext cx="2834640" cy="566928"/>
          </a:xfrm>
          <a:prstGeom prst="rect">
            <a:avLst/>
          </a:prstGeom>
          <a:noFill/>
        </p:spPr>
        <p:txBody>
          <a:bodyPr wrap="square" lIns="0" rIns="0" tIns="0" bIns="0" anchor="ctr"/>
          <a:lstStyle/>
          <a:p>
            <a:pPr algn="r">
              <a:spcBef>
                <a:spcPts val="0"/>
              </a:spcBef>
              <a:spcAft>
                <a:spcPts val="0"/>
              </a:spcAft>
            </a:pPr>
            <a:r>
              <a:rPr sz="1500" b="1" i="0">
                <a:solidFill>
                  <a:srgbClr val="1B6B5A"/>
                </a:solidFill>
                <a:latin typeface="Calibri"/>
                <a:ea typeface="Calibri"/>
                <a:cs typeface="Calibri"/>
              </a:rPr>
              <a:t>42% shorter</a:t>
            </a:r>
          </a:p>
        </p:txBody>
      </p:sp>
      <p:sp>
        <p:nvSpPr>
          <p:cNvPr id="37" name="Rounded Rectangle 36"/>
          <p:cNvSpPr/>
          <p:nvPr/>
        </p:nvSpPr>
        <p:spPr>
          <a:xfrm>
            <a:off x="502920" y="5413248"/>
            <a:ext cx="11228832" cy="56692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4088" y="5413248"/>
            <a:ext cx="2926080" cy="566928"/>
          </a:xfrm>
          <a:prstGeom prst="rect">
            <a:avLst/>
          </a:prstGeom>
          <a:noFill/>
        </p:spPr>
        <p:txBody>
          <a:bodyPr wrap="square" lIns="0" rIns="0" tIns="0" bIns="0" anchor="ctr"/>
          <a:lstStyle/>
          <a:p>
            <a:pPr algn="l">
              <a:spcBef>
                <a:spcPts val="0"/>
              </a:spcBef>
              <a:spcAft>
                <a:spcPts val="0"/>
              </a:spcAft>
            </a:pPr>
            <a:r>
              <a:rPr sz="1500" b="1" i="0">
                <a:solidFill>
                  <a:srgbClr val="1A2834"/>
                </a:solidFill>
                <a:latin typeface="Calibri"/>
                <a:ea typeface="Calibri"/>
                <a:cs typeface="Calibri"/>
              </a:rPr>
              <a:t>Balanced</a:t>
            </a:r>
          </a:p>
        </p:txBody>
      </p:sp>
      <p:sp>
        <p:nvSpPr>
          <p:cNvPr id="39" name="TextBox 38"/>
          <p:cNvSpPr txBox="1"/>
          <p:nvPr/>
        </p:nvSpPr>
        <p:spPr>
          <a:xfrm>
            <a:off x="3611880" y="5413248"/>
            <a:ext cx="4937760" cy="566928"/>
          </a:xfrm>
          <a:prstGeom prst="rect">
            <a:avLst/>
          </a:prstGeom>
          <a:noFill/>
        </p:spPr>
        <p:txBody>
          <a:bodyPr wrap="square" lIns="0" rIns="0" tIns="0" bIns="0" anchor="ctr"/>
          <a:lstStyle/>
          <a:p>
            <a:pPr algn="l">
              <a:spcBef>
                <a:spcPts val="0"/>
              </a:spcBef>
              <a:spcAft>
                <a:spcPts val="0"/>
              </a:spcAft>
            </a:pPr>
            <a:r>
              <a:rPr sz="1500" b="0" i="0">
                <a:solidFill>
                  <a:srgbClr val="1A2834"/>
                </a:solidFill>
                <a:latin typeface="Calibri"/>
                <a:ea typeface="Calibri"/>
                <a:cs typeface="Calibri"/>
              </a:rPr>
              <a:t>30.0 s   to   21.8 s</a:t>
            </a:r>
          </a:p>
        </p:txBody>
      </p:sp>
      <p:sp>
        <p:nvSpPr>
          <p:cNvPr id="40" name="TextBox 39"/>
          <p:cNvSpPr txBox="1"/>
          <p:nvPr/>
        </p:nvSpPr>
        <p:spPr>
          <a:xfrm>
            <a:off x="8549640" y="5413248"/>
            <a:ext cx="2834640" cy="566928"/>
          </a:xfrm>
          <a:prstGeom prst="rect">
            <a:avLst/>
          </a:prstGeom>
          <a:noFill/>
        </p:spPr>
        <p:txBody>
          <a:bodyPr wrap="square" lIns="0" rIns="0" tIns="0" bIns="0" anchor="ctr"/>
          <a:lstStyle/>
          <a:p>
            <a:pPr algn="r">
              <a:spcBef>
                <a:spcPts val="0"/>
              </a:spcBef>
              <a:spcAft>
                <a:spcPts val="0"/>
              </a:spcAft>
            </a:pPr>
            <a:r>
              <a:rPr sz="1500" b="1" i="0">
                <a:solidFill>
                  <a:srgbClr val="1B6B5A"/>
                </a:solidFill>
                <a:latin typeface="Calibri"/>
                <a:ea typeface="Calibri"/>
                <a:cs typeface="Calibri"/>
              </a:rPr>
              <a:t>27% shorter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Metrics by controller  ·  Fuel cut vs baselines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10</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METRICS BY CONTROLLER</a:t>
            </a:r>
          </a:p>
        </p:txBody>
      </p:sp>
      <p:pic>
        <p:nvPicPr>
          <p:cNvPr id="10" name="Picture 9" descr="i_grouped_bars.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Fuel, CO₂, wait, and queue (mean±std)</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FUEL CUT VS BASELINES</a:t>
            </a:r>
          </a:p>
        </p:txBody>
      </p:sp>
      <p:pic>
        <p:nvPicPr>
          <p:cNvPr id="14" name="Picture 13" descr="ii_pct_reduction.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Paired % reduction versus tuned baselines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Dynamic queue series  ·  Green allocation</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11</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DYNAMIC QUEUE SERIES</a:t>
            </a:r>
          </a:p>
        </p:txBody>
      </p:sp>
      <p:pic>
        <p:nvPicPr>
          <p:cNvPr id="10" name="Picture 9" descr="iii_dynamic_queue_ts.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Queue time series on the dynamic scenario</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GREEN ALLOCATION</a:t>
            </a:r>
          </a:p>
        </p:txBody>
      </p:sp>
      <p:pic>
        <p:nvPicPr>
          <p:cNvPr id="14" name="Picture 13" descr="iv_green_allocation.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XtraFlow green share versus fixed timing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Fuel by vehicle type  ·  Gain vs saturation</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12</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FUEL BY VEHICLE TYPE</a:t>
            </a:r>
          </a:p>
        </p:txBody>
      </p:sp>
      <p:pic>
        <p:nvPicPr>
          <p:cNvPr id="10" name="Picture 9" descr="v_fuel_by_type.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Mean fuel split across the assumed mix</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GAIN VS SATURATION</a:t>
            </a:r>
          </a:p>
        </p:txBody>
      </p:sp>
      <p:pic>
        <p:nvPicPr>
          <p:cNvPr id="14" name="Picture 13" descr="vi_gain_vs_saturation.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Fuel gain versus demand multiplier proxy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Detection-miss robustness  ·  RL training</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13</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DETECTION-MISS ROBUSTNESS</a:t>
            </a:r>
          </a:p>
        </p:txBody>
      </p:sp>
      <p:pic>
        <p:nvPicPr>
          <p:cNvPr id="10" name="Picture 9" descr="vii_robustness.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Fuel under rising detector miss rates</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RL TRAINING</a:t>
            </a:r>
          </a:p>
        </p:txBody>
      </p:sp>
      <p:pic>
        <p:nvPicPr>
          <p:cNvPr id="14" name="Picture 13" descr="viii_rl_training.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PPO training curve (unscored on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Emission cross-check  ·  2×2 grid</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14</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EMISSION CROSS-CHECK</a:t>
            </a:r>
          </a:p>
        </p:txBody>
      </p:sp>
      <p:pic>
        <p:nvPicPr>
          <p:cNvPr id="10" name="Picture 9" descr="ix_emission_xcheck.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Primary vs alternate emission classes</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2×2 GRID</a:t>
            </a:r>
          </a:p>
        </p:txBody>
      </p:sp>
      <p:pic>
        <p:nvPicPr>
          <p:cNvPr id="14" name="Picture 13" descr="x_grid_results.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Grid sweep (unscored TLS caveat applies)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Extrapolation  ·  Phase choice sketch</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15</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EXTRAPOLATION</a:t>
            </a:r>
          </a:p>
        </p:txBody>
      </p:sp>
      <p:pic>
        <p:nvPicPr>
          <p:cNvPr id="10" name="Picture 9" descr="xi_extrapolation.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Placeholder scaled fuel / INR range</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PHASE CHOICE SKETCH</a:t>
            </a:r>
          </a:p>
        </p:txBody>
      </p:sp>
      <p:pic>
        <p:nvPicPr>
          <p:cNvPr id="14" name="Picture 13" descr="xtraflow_choice.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How fuel-weighted pressure picks a phase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LIVE CLIP 1 · CONTROL</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Fixed timing on the left. XtraFlow on the right.</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One seed, same arrivals. Qualitative demo — the fuel numbers are on the previous slides.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16</a:t>
            </a:r>
          </a:p>
        </p:txBody>
      </p:sp>
      <p:sp>
        <p:nvSpPr>
          <p:cNvPr id="8" name="Rounded Rectangle 7"/>
          <p:cNvSpPr/>
          <p:nvPr/>
        </p:nvSpPr>
        <p:spPr>
          <a:xfrm>
            <a:off x="502920" y="1554480"/>
            <a:ext cx="7040880" cy="443484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6400800"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PLAY NOW</a:t>
            </a:r>
          </a:p>
        </p:txBody>
      </p:sp>
      <p:sp>
        <p:nvSpPr>
          <p:cNvPr id="10" name="TextBox 9"/>
          <p:cNvSpPr txBox="1"/>
          <p:nvPr/>
        </p:nvSpPr>
        <p:spPr>
          <a:xfrm>
            <a:off x="822960" y="2423160"/>
            <a:ext cx="6400800" cy="502920"/>
          </a:xfrm>
          <a:prstGeom prst="rect">
            <a:avLst/>
          </a:prstGeom>
          <a:noFill/>
        </p:spPr>
        <p:txBody>
          <a:bodyPr wrap="square" lIns="0" rIns="0" tIns="0" bIns="0" anchor="t"/>
          <a:lstStyle/>
          <a:p>
            <a:pPr algn="l">
              <a:spcBef>
                <a:spcPts val="0"/>
              </a:spcBef>
              <a:spcAft>
                <a:spcPts val="0"/>
              </a:spcAft>
            </a:pPr>
            <a:r>
              <a:rPr sz="2200" b="1" i="0">
                <a:solidFill>
                  <a:srgbClr val="FFFFFF"/>
                </a:solidFill>
                <a:latin typeface="Georgia"/>
                <a:ea typeface="Georgia"/>
                <a:cs typeface="Georgia"/>
              </a:rPr>
              <a:t>results/demo/demo.mp4</a:t>
            </a:r>
          </a:p>
        </p:txBody>
      </p:sp>
      <p:sp>
        <p:nvSpPr>
          <p:cNvPr id="11" name="TextBox 10"/>
          <p:cNvSpPr txBox="1"/>
          <p:nvPr/>
        </p:nvSpPr>
        <p:spPr>
          <a:xfrm>
            <a:off x="822960" y="3154680"/>
            <a:ext cx="6400800" cy="1280160"/>
          </a:xfrm>
          <a:prstGeom prst="rect">
            <a:avLst/>
          </a:prstGeom>
          <a:noFill/>
        </p:spPr>
        <p:txBody>
          <a:bodyPr wrap="square" lIns="0" rIns="0" tIns="0" bIns="0" anchor="t"/>
          <a:lstStyle/>
          <a:p>
            <a:pPr algn="l">
              <a:spcBef>
                <a:spcPts val="0"/>
              </a:spcBef>
              <a:spcAft>
                <a:spcPts val="0"/>
              </a:spcAft>
            </a:pPr>
            <a:r>
              <a:rPr sz="1600" b="0" i="0">
                <a:solidFill>
                  <a:srgbClr val="C9D4DC"/>
                </a:solidFill>
                <a:latin typeface="Calibri"/>
                <a:ea typeface="Calibri"/>
                <a:cs typeface="Calibri"/>
              </a:rPr>
              <a:t>Open the file in a video player beside the deck. Same demand seed: legacy fixed versus XtraFlow. Do not treat the clip as a percentage claim.</a:t>
            </a:r>
          </a:p>
        </p:txBody>
      </p:sp>
      <p:sp>
        <p:nvSpPr>
          <p:cNvPr id="12" name="TextBox 11"/>
          <p:cNvSpPr txBox="1"/>
          <p:nvPr/>
        </p:nvSpPr>
        <p:spPr>
          <a:xfrm>
            <a:off x="822960" y="4846320"/>
            <a:ext cx="6400800" cy="640080"/>
          </a:xfrm>
          <a:prstGeom prst="rect">
            <a:avLst/>
          </a:prstGeom>
          <a:noFill/>
        </p:spPr>
        <p:txBody>
          <a:bodyPr wrap="square" lIns="0" rIns="0" tIns="0" bIns="0" anchor="t"/>
          <a:lstStyle/>
          <a:p>
            <a:pPr algn="l">
              <a:spcBef>
                <a:spcPts val="0"/>
              </a:spcBef>
              <a:spcAft>
                <a:spcPts val="0"/>
              </a:spcAft>
            </a:pPr>
            <a:r>
              <a:rPr sz="1500" b="0" i="0">
                <a:solidFill>
                  <a:srgbClr val="F0C26A"/>
                </a:solidFill>
                <a:latin typeface="Calibri"/>
                <a:ea typeface="Calibri"/>
                <a:cs typeface="Calibri"/>
              </a:rPr>
              <a:t>Next: YOLO story clip — GO/WAIT on four cameras.</a:t>
            </a:r>
          </a:p>
        </p:txBody>
      </p:sp>
      <p:sp>
        <p:nvSpPr>
          <p:cNvPr id="13" name="Rounded Rectangle 12"/>
          <p:cNvSpPr/>
          <p:nvPr/>
        </p:nvSpPr>
        <p:spPr>
          <a:xfrm>
            <a:off x="7818120" y="1554480"/>
            <a:ext cx="3913632"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19288" y="1783080"/>
            <a:ext cx="3566160" cy="32004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WHAT TO SAY</a:t>
            </a:r>
          </a:p>
        </p:txBody>
      </p:sp>
      <p:sp>
        <p:nvSpPr>
          <p:cNvPr id="15" name="TextBox 14"/>
          <p:cNvSpPr txBox="1"/>
          <p:nvPr/>
        </p:nvSpPr>
        <p:spPr>
          <a:xfrm>
            <a:off x="8019288" y="228600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1.  Same cars on both sides.</a:t>
            </a:r>
          </a:p>
        </p:txBody>
      </p:sp>
      <p:sp>
        <p:nvSpPr>
          <p:cNvPr id="16" name="TextBox 15"/>
          <p:cNvSpPr txBox="1"/>
          <p:nvPr/>
        </p:nvSpPr>
        <p:spPr>
          <a:xfrm>
            <a:off x="8019288" y="306324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2.  Left is fixed green.</a:t>
            </a:r>
          </a:p>
        </p:txBody>
      </p:sp>
      <p:sp>
        <p:nvSpPr>
          <p:cNvPr id="17" name="TextBox 16"/>
          <p:cNvSpPr txBox="1"/>
          <p:nvPr/>
        </p:nvSpPr>
        <p:spPr>
          <a:xfrm>
            <a:off x="8019288" y="384048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3.  Right is fuel-weighted pressure.</a:t>
            </a:r>
          </a:p>
        </p:txBody>
      </p:sp>
      <p:sp>
        <p:nvSpPr>
          <p:cNvPr id="18" name="TextBox 17"/>
          <p:cNvSpPr txBox="1"/>
          <p:nvPr/>
        </p:nvSpPr>
        <p:spPr>
          <a:xfrm>
            <a:off x="8019288" y="461772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4.  Watch which approach gets green when the queue is heavy.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LIVE CLIP 2 · PERCEPTION</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Play the YOLO story: GO / WAIT on four cameras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Input feasibility — not a fuel-saving result</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17</a:t>
            </a:r>
          </a:p>
        </p:txBody>
      </p:sp>
      <p:sp>
        <p:nvSpPr>
          <p:cNvPr id="8" name="Rounded Rectangle 7"/>
          <p:cNvSpPr/>
          <p:nvPr/>
        </p:nvSpPr>
        <p:spPr>
          <a:xfrm>
            <a:off x="502920" y="1536192"/>
            <a:ext cx="6903720" cy="365760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yolo_story_still.jpg"/>
          <p:cNvPicPr>
            <a:picLocks noChangeAspect="1"/>
          </p:cNvPicPr>
          <p:nvPr/>
        </p:nvPicPr>
        <p:blipFill>
          <a:blip r:embed="rId2"/>
          <a:stretch>
            <a:fillRect/>
          </a:stretch>
        </p:blipFill>
        <p:spPr>
          <a:xfrm>
            <a:off x="667512" y="1700784"/>
            <a:ext cx="6583680" cy="3337560"/>
          </a:xfrm>
          <a:prstGeom prst="rect">
            <a:avLst/>
          </a:prstGeom>
        </p:spPr>
      </p:pic>
      <p:sp>
        <p:nvSpPr>
          <p:cNvPr id="10" name="Rounded Rectangle 9"/>
          <p:cNvSpPr/>
          <p:nvPr/>
        </p:nvSpPr>
        <p:spPr>
          <a:xfrm>
            <a:off x="7635240" y="1536192"/>
            <a:ext cx="4096512" cy="365760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719072"/>
            <a:ext cx="3749039"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PLAY NOW</a:t>
            </a:r>
          </a:p>
        </p:txBody>
      </p:sp>
      <p:sp>
        <p:nvSpPr>
          <p:cNvPr id="12" name="TextBox 11"/>
          <p:cNvSpPr txBox="1"/>
          <p:nvPr/>
        </p:nvSpPr>
        <p:spPr>
          <a:xfrm>
            <a:off x="7836408" y="2057400"/>
            <a:ext cx="3749039" cy="640080"/>
          </a:xfrm>
          <a:prstGeom prst="rect">
            <a:avLst/>
          </a:prstGeom>
          <a:noFill/>
        </p:spPr>
        <p:txBody>
          <a:bodyPr wrap="square" lIns="0" rIns="0" tIns="0" bIns="0" anchor="t"/>
          <a:lstStyle/>
          <a:p>
            <a:pPr algn="l">
              <a:spcBef>
                <a:spcPts val="0"/>
              </a:spcBef>
              <a:spcAft>
                <a:spcPts val="0"/>
              </a:spcAft>
            </a:pPr>
            <a:r>
              <a:rPr sz="1500" b="1" i="0">
                <a:solidFill>
                  <a:srgbClr val="1B6B5A"/>
                </a:solidFill>
                <a:latin typeface="Georgia"/>
                <a:ea typeface="Georgia"/>
                <a:cs typeface="Georgia"/>
              </a:rPr>
              <a:t>results/demo/yolo/yolo_story.mp4</a:t>
            </a:r>
          </a:p>
        </p:txBody>
      </p:sp>
      <p:sp>
        <p:nvSpPr>
          <p:cNvPr id="13" name="TextBox 12"/>
          <p:cNvSpPr txBox="1"/>
          <p:nvPr/>
        </p:nvSpPr>
        <p:spPr>
          <a:xfrm>
            <a:off x="7836408" y="2834640"/>
            <a:ext cx="3749039" cy="50292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1.  Green = that axis moves. Red = wait.</a:t>
            </a:r>
          </a:p>
        </p:txBody>
      </p:sp>
      <p:sp>
        <p:nvSpPr>
          <p:cNvPr id="14" name="TextBox 13"/>
          <p:cNvSpPr txBox="1"/>
          <p:nvPr/>
        </p:nvSpPr>
        <p:spPr>
          <a:xfrm>
            <a:off x="7836408" y="3337560"/>
            <a:ext cx="3749039" cy="50292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2.  Phase picks the highest fuel-weighted pressure.</a:t>
            </a:r>
          </a:p>
        </p:txBody>
      </p:sp>
      <p:sp>
        <p:nvSpPr>
          <p:cNvPr id="15" name="TextBox 14"/>
          <p:cNvSpPr txBox="1"/>
          <p:nvPr/>
        </p:nvSpPr>
        <p:spPr>
          <a:xfrm>
            <a:off x="7836408" y="3840480"/>
            <a:ext cx="3749039" cy="50292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3.  Four independent corridor cams — not one junction.</a:t>
            </a:r>
          </a:p>
        </p:txBody>
      </p:sp>
      <p:sp>
        <p:nvSpPr>
          <p:cNvPr id="16" name="TextBox 15"/>
          <p:cNvSpPr txBox="1"/>
          <p:nvPr/>
        </p:nvSpPr>
        <p:spPr>
          <a:xfrm>
            <a:off x="7836408" y="4343400"/>
            <a:ext cx="3749039" cy="50292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4.  Not the locked SUMO fuel headline.</a:t>
            </a:r>
          </a:p>
        </p:txBody>
      </p:sp>
      <p:sp>
        <p:nvSpPr>
          <p:cNvPr id="17" name="Rounded Rectangle 16"/>
          <p:cNvSpPr/>
          <p:nvPr/>
        </p:nvSpPr>
        <p:spPr>
          <a:xfrm>
            <a:off x="502920" y="5349240"/>
            <a:ext cx="11228832" cy="86868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486400"/>
            <a:ext cx="10680192"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CLIP STATS (PROXY — NOT TEST)</a:t>
            </a:r>
          </a:p>
        </p:txBody>
      </p:sp>
      <p:sp>
        <p:nvSpPr>
          <p:cNvPr id="19" name="TextBox 18"/>
          <p:cNvSpPr txBox="1"/>
          <p:nvPr/>
        </p:nvSpPr>
        <p:spPr>
          <a:xfrm>
            <a:off x="795528" y="5806440"/>
            <a:ext cx="10680192" cy="274320"/>
          </a:xfrm>
          <a:prstGeom prst="rect">
            <a:avLst/>
          </a:prstGeom>
          <a:noFill/>
        </p:spPr>
        <p:txBody>
          <a:bodyPr wrap="square" lIns="0" rIns="0" tIns="0" bIns="0" anchor="t"/>
          <a:lstStyle/>
          <a:p>
            <a:pPr algn="l">
              <a:spcBef>
                <a:spcPts val="0"/>
              </a:spcBef>
              <a:spcAft>
                <a:spcPts val="0"/>
              </a:spcAft>
            </a:pPr>
            <a:r>
              <a:rPr sz="1400" b="0" i="0">
                <a:solidFill>
                  <a:srgbClr val="FFFFFF"/>
                </a:solidFill>
                <a:latin typeface="Calibri"/>
                <a:ea typeface="Calibri"/>
                <a:cs typeface="Calibri"/>
              </a:rPr>
              <a:t>mean ~15 veh across cams  ·  peak 24  ·  idle-fuel proxy vs fixed 22% on this clip only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LIVE CLIP 2B · OPTIONAL</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Mosaic and per-camera overlays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Play if someone asks how each approach looks. Same caveat: input feasibility only.</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18</a:t>
            </a:r>
          </a:p>
        </p:txBody>
      </p:sp>
      <p:sp>
        <p:nvSpPr>
          <p:cNvPr id="8" name="Rounded Rectangle 7"/>
          <p:cNvSpPr/>
          <p:nvPr/>
        </p:nvSpPr>
        <p:spPr>
          <a:xfrm>
            <a:off x="502920" y="1536192"/>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m_N_hwy.jpg"/>
          <p:cNvPicPr>
            <a:picLocks noChangeAspect="1"/>
          </p:cNvPicPr>
          <p:nvPr/>
        </p:nvPicPr>
        <p:blipFill>
          <a:blip r:embed="rId2"/>
          <a:stretch>
            <a:fillRect/>
          </a:stretch>
        </p:blipFill>
        <p:spPr>
          <a:xfrm>
            <a:off x="576072" y="1792224"/>
            <a:ext cx="2459736" cy="1188719"/>
          </a:xfrm>
          <a:prstGeom prst="rect">
            <a:avLst/>
          </a:prstGeom>
        </p:spPr>
      </p:pic>
      <p:sp>
        <p:nvSpPr>
          <p:cNvPr id="10" name="TextBox 9"/>
          <p:cNvSpPr txBox="1"/>
          <p:nvPr/>
        </p:nvSpPr>
        <p:spPr>
          <a:xfrm>
            <a:off x="594360" y="1572768"/>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N  ·  Straight multi-lane (Zenodo cam_10)</a:t>
            </a:r>
          </a:p>
        </p:txBody>
      </p:sp>
      <p:sp>
        <p:nvSpPr>
          <p:cNvPr id="11" name="Rounded Rectangle 10"/>
          <p:cNvSpPr/>
          <p:nvPr/>
        </p:nvSpPr>
        <p:spPr>
          <a:xfrm>
            <a:off x="3218688" y="1536192"/>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m_E_hwy.jpg"/>
          <p:cNvPicPr>
            <a:picLocks noChangeAspect="1"/>
          </p:cNvPicPr>
          <p:nvPr/>
        </p:nvPicPr>
        <p:blipFill>
          <a:blip r:embed="rId3"/>
          <a:stretch>
            <a:fillRect/>
          </a:stretch>
        </p:blipFill>
        <p:spPr>
          <a:xfrm>
            <a:off x="3291840" y="1792224"/>
            <a:ext cx="2459736" cy="1188719"/>
          </a:xfrm>
          <a:prstGeom prst="rect">
            <a:avLst/>
          </a:prstGeom>
        </p:spPr>
      </p:pic>
      <p:sp>
        <p:nvSpPr>
          <p:cNvPr id="13" name="TextBox 12"/>
          <p:cNvSpPr txBox="1"/>
          <p:nvPr/>
        </p:nvSpPr>
        <p:spPr>
          <a:xfrm>
            <a:off x="3310128" y="1572768"/>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E  ·  Straight street (Zenodo cam_16)</a:t>
            </a:r>
          </a:p>
        </p:txBody>
      </p:sp>
      <p:sp>
        <p:nvSpPr>
          <p:cNvPr id="14" name="Rounded Rectangle 13"/>
          <p:cNvSpPr/>
          <p:nvPr/>
        </p:nvSpPr>
        <p:spPr>
          <a:xfrm>
            <a:off x="502920" y="3200400"/>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m_S_hwy.jpg"/>
          <p:cNvPicPr>
            <a:picLocks noChangeAspect="1"/>
          </p:cNvPicPr>
          <p:nvPr/>
        </p:nvPicPr>
        <p:blipFill>
          <a:blip r:embed="rId4"/>
          <a:stretch>
            <a:fillRect/>
          </a:stretch>
        </p:blipFill>
        <p:spPr>
          <a:xfrm>
            <a:off x="576072" y="3456432"/>
            <a:ext cx="2459736" cy="1188719"/>
          </a:xfrm>
          <a:prstGeom prst="rect">
            <a:avLst/>
          </a:prstGeom>
        </p:spPr>
      </p:pic>
      <p:sp>
        <p:nvSpPr>
          <p:cNvPr id="16" name="TextBox 15"/>
          <p:cNvSpPr txBox="1"/>
          <p:nvPr/>
        </p:nvSpPr>
        <p:spPr>
          <a:xfrm>
            <a:off x="594360" y="3236976"/>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S  ·  I-5 S @ 188th St (WSDOT)</a:t>
            </a:r>
          </a:p>
        </p:txBody>
      </p:sp>
      <p:sp>
        <p:nvSpPr>
          <p:cNvPr id="17" name="Rounded Rectangle 16"/>
          <p:cNvSpPr/>
          <p:nvPr/>
        </p:nvSpPr>
        <p:spPr>
          <a:xfrm>
            <a:off x="3218688" y="3200400"/>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am_W_hwy.jpg"/>
          <p:cNvPicPr>
            <a:picLocks noChangeAspect="1"/>
          </p:cNvPicPr>
          <p:nvPr/>
        </p:nvPicPr>
        <p:blipFill>
          <a:blip r:embed="rId5"/>
          <a:stretch>
            <a:fillRect/>
          </a:stretch>
        </p:blipFill>
        <p:spPr>
          <a:xfrm>
            <a:off x="3291840" y="3456432"/>
            <a:ext cx="2459736" cy="1188719"/>
          </a:xfrm>
          <a:prstGeom prst="rect">
            <a:avLst/>
          </a:prstGeom>
        </p:spPr>
      </p:pic>
      <p:sp>
        <p:nvSpPr>
          <p:cNvPr id="19" name="TextBox 18"/>
          <p:cNvSpPr txBox="1"/>
          <p:nvPr/>
        </p:nvSpPr>
        <p:spPr>
          <a:xfrm>
            <a:off x="3310128" y="3236976"/>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W  ·  Divided arterial (Zenodo cam_11)</a:t>
            </a:r>
          </a:p>
        </p:txBody>
      </p:sp>
      <p:sp>
        <p:nvSpPr>
          <p:cNvPr id="20" name="Rounded Rectangle 19"/>
          <p:cNvSpPr/>
          <p:nvPr/>
        </p:nvSpPr>
        <p:spPr>
          <a:xfrm>
            <a:off x="6117336" y="1536192"/>
            <a:ext cx="5614415" cy="321868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8504" y="1691640"/>
            <a:ext cx="5248655"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PLAY THESE</a:t>
            </a:r>
          </a:p>
        </p:txBody>
      </p:sp>
      <p:sp>
        <p:nvSpPr>
          <p:cNvPr id="22" name="TextBox 21"/>
          <p:cNvSpPr txBox="1"/>
          <p:nvPr/>
        </p:nvSpPr>
        <p:spPr>
          <a:xfrm>
            <a:off x="6318504" y="2057400"/>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Mosaic (2×2)</a:t>
            </a:r>
          </a:p>
        </p:txBody>
      </p:sp>
      <p:sp>
        <p:nvSpPr>
          <p:cNvPr id="23" name="TextBox 22"/>
          <p:cNvSpPr txBox="1"/>
          <p:nvPr/>
        </p:nvSpPr>
        <p:spPr>
          <a:xfrm>
            <a:off x="6501384" y="2258568"/>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results/demo/yolo/yolo_mosaic.mp4</a:t>
            </a:r>
          </a:p>
        </p:txBody>
      </p:sp>
      <p:sp>
        <p:nvSpPr>
          <p:cNvPr id="24" name="TextBox 23"/>
          <p:cNvSpPr txBox="1"/>
          <p:nvPr/>
        </p:nvSpPr>
        <p:spPr>
          <a:xfrm>
            <a:off x="6318504" y="2496312"/>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Primary overlay</a:t>
            </a:r>
          </a:p>
        </p:txBody>
      </p:sp>
      <p:sp>
        <p:nvSpPr>
          <p:cNvPr id="25" name="TextBox 24"/>
          <p:cNvSpPr txBox="1"/>
          <p:nvPr/>
        </p:nvSpPr>
        <p:spPr>
          <a:xfrm>
            <a:off x="6501384" y="2697480"/>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results/demo/yolo_overlay.mp4</a:t>
            </a:r>
          </a:p>
        </p:txBody>
      </p:sp>
      <p:sp>
        <p:nvSpPr>
          <p:cNvPr id="26" name="TextBox 25"/>
          <p:cNvSpPr txBox="1"/>
          <p:nvPr/>
        </p:nvSpPr>
        <p:spPr>
          <a:xfrm>
            <a:off x="6318504" y="2935224"/>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N</a:t>
            </a:r>
          </a:p>
        </p:txBody>
      </p:sp>
      <p:sp>
        <p:nvSpPr>
          <p:cNvPr id="27" name="TextBox 26"/>
          <p:cNvSpPr txBox="1"/>
          <p:nvPr/>
        </p:nvSpPr>
        <p:spPr>
          <a:xfrm>
            <a:off x="6501384" y="3136392"/>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results/demo/yolo/overlay_N.mp4</a:t>
            </a:r>
          </a:p>
        </p:txBody>
      </p:sp>
      <p:sp>
        <p:nvSpPr>
          <p:cNvPr id="28" name="TextBox 27"/>
          <p:cNvSpPr txBox="1"/>
          <p:nvPr/>
        </p:nvSpPr>
        <p:spPr>
          <a:xfrm>
            <a:off x="6318504" y="3374136"/>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E</a:t>
            </a:r>
          </a:p>
        </p:txBody>
      </p:sp>
      <p:sp>
        <p:nvSpPr>
          <p:cNvPr id="29" name="TextBox 28"/>
          <p:cNvSpPr txBox="1"/>
          <p:nvPr/>
        </p:nvSpPr>
        <p:spPr>
          <a:xfrm>
            <a:off x="6501384" y="3575304"/>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results/demo/yolo/overlay_E.mp4</a:t>
            </a:r>
          </a:p>
        </p:txBody>
      </p:sp>
      <p:sp>
        <p:nvSpPr>
          <p:cNvPr id="30" name="TextBox 29"/>
          <p:cNvSpPr txBox="1"/>
          <p:nvPr/>
        </p:nvSpPr>
        <p:spPr>
          <a:xfrm>
            <a:off x="6318504" y="3813048"/>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S</a:t>
            </a:r>
          </a:p>
        </p:txBody>
      </p:sp>
      <p:sp>
        <p:nvSpPr>
          <p:cNvPr id="31" name="TextBox 30"/>
          <p:cNvSpPr txBox="1"/>
          <p:nvPr/>
        </p:nvSpPr>
        <p:spPr>
          <a:xfrm>
            <a:off x="6501384" y="4014215"/>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results/demo/yolo/overlay_S.mp4</a:t>
            </a:r>
          </a:p>
        </p:txBody>
      </p:sp>
      <p:sp>
        <p:nvSpPr>
          <p:cNvPr id="32" name="TextBox 31"/>
          <p:cNvSpPr txBox="1"/>
          <p:nvPr/>
        </p:nvSpPr>
        <p:spPr>
          <a:xfrm>
            <a:off x="6318504" y="4251960"/>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W</a:t>
            </a:r>
          </a:p>
        </p:txBody>
      </p:sp>
      <p:sp>
        <p:nvSpPr>
          <p:cNvPr id="33" name="TextBox 32"/>
          <p:cNvSpPr txBox="1"/>
          <p:nvPr/>
        </p:nvSpPr>
        <p:spPr>
          <a:xfrm>
            <a:off x="6501384" y="4453128"/>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results/demo/yolo/overlay_W.mp4</a:t>
            </a:r>
          </a:p>
        </p:txBody>
      </p:sp>
      <p:sp>
        <p:nvSpPr>
          <p:cNvPr id="34" name="Rounded Rectangle 33"/>
          <p:cNvSpPr/>
          <p:nvPr/>
        </p:nvSpPr>
        <p:spPr>
          <a:xfrm>
            <a:off x="502920" y="4892040"/>
            <a:ext cx="11228832" cy="132588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029200"/>
            <a:ext cx="10680192"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ATTRIBUTION</a:t>
            </a:r>
          </a:p>
        </p:txBody>
      </p:sp>
      <p:sp>
        <p:nvSpPr>
          <p:cNvPr id="36" name="TextBox 35"/>
          <p:cNvSpPr txBox="1"/>
          <p:nvPr/>
        </p:nvSpPr>
        <p:spPr>
          <a:xfrm>
            <a:off x="795528" y="5349240"/>
            <a:ext cx="10680192" cy="365760"/>
          </a:xfrm>
          <a:prstGeom prst="rect">
            <a:avLst/>
          </a:prstGeom>
          <a:noFill/>
        </p:spPr>
        <p:txBody>
          <a:bodyPr wrap="square" lIns="0" rIns="0" tIns="0" bIns="0" anchor="t"/>
          <a:lstStyle/>
          <a:p>
            <a:pPr algn="l">
              <a:spcBef>
                <a:spcPts val="0"/>
              </a:spcBef>
              <a:spcAft>
                <a:spcPts val="0"/>
              </a:spcAft>
            </a:pPr>
            <a:r>
              <a:rPr sz="1400" b="0" i="0">
                <a:solidFill>
                  <a:srgbClr val="FFFFFF"/>
                </a:solidFill>
                <a:latin typeface="Calibri"/>
                <a:ea typeface="Calibri"/>
                <a:cs typeface="Calibri"/>
              </a:rPr>
              <a:t>Four independent corridor cameras mapped to N/E/S/W for a mosaic. Not synchronized approaches of one intersection. S is true southbound one-way highway; N/E/W are Zenodo arterial cams.</a:t>
            </a:r>
          </a:p>
        </p:txBody>
      </p:sp>
      <p:sp>
        <p:nvSpPr>
          <p:cNvPr id="37" name="TextBox 36"/>
          <p:cNvSpPr txBox="1"/>
          <p:nvPr/>
        </p:nvSpPr>
        <p:spPr>
          <a:xfrm>
            <a:off x="795528" y="5852160"/>
            <a:ext cx="10680192" cy="228600"/>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Mixed research CCTV — straight / one-way corridors  ·  Zenodo DOI 10.5281/zenodo.3986141 (CC BY 4.0); Seattle I-5 trafficdb (WSDOT / Chan–Vasconcelos)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IF THE CAMERA MISSES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At the highest miss rate, mean fuel is under the reference lines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Peak, one-sided. 3 seeds. Vehicles are dropped from the detector at random.</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19</a:t>
            </a:r>
          </a:p>
        </p:txBody>
      </p:sp>
      <p:sp>
        <p:nvSpPr>
          <p:cNvPr id="8" name="Rounded Rectangle 7"/>
          <p:cNvSpPr/>
          <p:nvPr/>
        </p:nvSpPr>
        <p:spPr>
          <a:xfrm>
            <a:off x="502920"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0% missed</a:t>
            </a:r>
          </a:p>
        </p:txBody>
      </p:sp>
      <p:sp>
        <p:nvSpPr>
          <p:cNvPr id="10" name="TextBox 9"/>
          <p:cNvSpPr txBox="1"/>
          <p:nvPr/>
        </p:nvSpPr>
        <p:spPr>
          <a:xfrm>
            <a:off x="667512"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0.123</a:t>
            </a:r>
          </a:p>
        </p:txBody>
      </p:sp>
      <p:sp>
        <p:nvSpPr>
          <p:cNvPr id="11" name="TextBox 10"/>
          <p:cNvSpPr txBox="1"/>
          <p:nvPr/>
        </p:nvSpPr>
        <p:spPr>
          <a:xfrm>
            <a:off x="667512"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12" name="TextBox 11"/>
          <p:cNvSpPr txBox="1"/>
          <p:nvPr/>
        </p:nvSpPr>
        <p:spPr>
          <a:xfrm>
            <a:off x="667512"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0.002   ·   n=3</a:t>
            </a:r>
          </a:p>
        </p:txBody>
      </p:sp>
      <p:sp>
        <p:nvSpPr>
          <p:cNvPr id="13" name="Rounded Rectangle 12"/>
          <p:cNvSpPr/>
          <p:nvPr/>
        </p:nvSpPr>
        <p:spPr>
          <a:xfrm>
            <a:off x="3346704"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1296"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10% missed</a:t>
            </a:r>
          </a:p>
        </p:txBody>
      </p:sp>
      <p:sp>
        <p:nvSpPr>
          <p:cNvPr id="15" name="TextBox 14"/>
          <p:cNvSpPr txBox="1"/>
          <p:nvPr/>
        </p:nvSpPr>
        <p:spPr>
          <a:xfrm>
            <a:off x="3511296"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0.123</a:t>
            </a:r>
          </a:p>
        </p:txBody>
      </p:sp>
      <p:sp>
        <p:nvSpPr>
          <p:cNvPr id="16" name="TextBox 15"/>
          <p:cNvSpPr txBox="1"/>
          <p:nvPr/>
        </p:nvSpPr>
        <p:spPr>
          <a:xfrm>
            <a:off x="3511296"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17" name="TextBox 16"/>
          <p:cNvSpPr txBox="1"/>
          <p:nvPr/>
        </p:nvSpPr>
        <p:spPr>
          <a:xfrm>
            <a:off x="3511296"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0.002   ·   n=3</a:t>
            </a:r>
          </a:p>
        </p:txBody>
      </p:sp>
      <p:sp>
        <p:nvSpPr>
          <p:cNvPr id="18" name="Rounded Rectangle 17"/>
          <p:cNvSpPr/>
          <p:nvPr/>
        </p:nvSpPr>
        <p:spPr>
          <a:xfrm>
            <a:off x="6190488"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20% missed</a:t>
            </a:r>
          </a:p>
        </p:txBody>
      </p:sp>
      <p:sp>
        <p:nvSpPr>
          <p:cNvPr id="20" name="TextBox 19"/>
          <p:cNvSpPr txBox="1"/>
          <p:nvPr/>
        </p:nvSpPr>
        <p:spPr>
          <a:xfrm>
            <a:off x="6355079"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0.124</a:t>
            </a:r>
          </a:p>
        </p:txBody>
      </p:sp>
      <p:sp>
        <p:nvSpPr>
          <p:cNvPr id="21" name="TextBox 20"/>
          <p:cNvSpPr txBox="1"/>
          <p:nvPr/>
        </p:nvSpPr>
        <p:spPr>
          <a:xfrm>
            <a:off x="6355079"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22" name="TextBox 21"/>
          <p:cNvSpPr txBox="1"/>
          <p:nvPr/>
        </p:nvSpPr>
        <p:spPr>
          <a:xfrm>
            <a:off x="6355079"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0.001   ·   n=3</a:t>
            </a:r>
          </a:p>
        </p:txBody>
      </p:sp>
      <p:sp>
        <p:nvSpPr>
          <p:cNvPr id="23" name="Rounded Rectangle 22"/>
          <p:cNvSpPr/>
          <p:nvPr/>
        </p:nvSpPr>
        <p:spPr>
          <a:xfrm>
            <a:off x="9034272"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98864"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30% missed</a:t>
            </a:r>
          </a:p>
        </p:txBody>
      </p:sp>
      <p:sp>
        <p:nvSpPr>
          <p:cNvPr id="25" name="TextBox 24"/>
          <p:cNvSpPr txBox="1"/>
          <p:nvPr/>
        </p:nvSpPr>
        <p:spPr>
          <a:xfrm>
            <a:off x="9198864"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0.124</a:t>
            </a:r>
          </a:p>
        </p:txBody>
      </p:sp>
      <p:sp>
        <p:nvSpPr>
          <p:cNvPr id="26" name="TextBox 25"/>
          <p:cNvSpPr txBox="1"/>
          <p:nvPr/>
        </p:nvSpPr>
        <p:spPr>
          <a:xfrm>
            <a:off x="9198864"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27" name="TextBox 26"/>
          <p:cNvSpPr txBox="1"/>
          <p:nvPr/>
        </p:nvSpPr>
        <p:spPr>
          <a:xfrm>
            <a:off x="9198864"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0.001   ·   n=3</a:t>
            </a:r>
          </a:p>
        </p:txBody>
      </p:sp>
      <p:sp>
        <p:nvSpPr>
          <p:cNvPr id="28" name="Rounded Rectangle 27"/>
          <p:cNvSpPr/>
          <p:nvPr/>
        </p:nvSpPr>
        <p:spPr>
          <a:xfrm>
            <a:off x="502920" y="4069080"/>
            <a:ext cx="11228832" cy="2148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24528"/>
            <a:ext cx="7315200"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SAME SEEDS, NO MISSES</a:t>
            </a:r>
          </a:p>
        </p:txBody>
      </p:sp>
      <p:sp>
        <p:nvSpPr>
          <p:cNvPr id="30" name="TextBox 29"/>
          <p:cNvSpPr txBox="1"/>
          <p:nvPr/>
        </p:nvSpPr>
        <p:spPr>
          <a:xfrm>
            <a:off x="777240" y="4617720"/>
            <a:ext cx="3108960" cy="41148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0.123 L</a:t>
            </a:r>
          </a:p>
        </p:txBody>
      </p:sp>
      <p:sp>
        <p:nvSpPr>
          <p:cNvPr id="31" name="TextBox 30"/>
          <p:cNvSpPr txBox="1"/>
          <p:nvPr/>
        </p:nvSpPr>
        <p:spPr>
          <a:xfrm>
            <a:off x="777240" y="5074920"/>
            <a:ext cx="3108960"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XtraFlow</a:t>
            </a:r>
          </a:p>
        </p:txBody>
      </p:sp>
      <p:sp>
        <p:nvSpPr>
          <p:cNvPr id="32" name="TextBox 31"/>
          <p:cNvSpPr txBox="1"/>
          <p:nvPr/>
        </p:nvSpPr>
        <p:spPr>
          <a:xfrm>
            <a:off x="4069080" y="4617720"/>
            <a:ext cx="3108960" cy="411480"/>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0.136 L</a:t>
            </a:r>
          </a:p>
        </p:txBody>
      </p:sp>
      <p:sp>
        <p:nvSpPr>
          <p:cNvPr id="33" name="TextBox 32"/>
          <p:cNvSpPr txBox="1"/>
          <p:nvPr/>
        </p:nvSpPr>
        <p:spPr>
          <a:xfrm>
            <a:off x="4069080" y="5074920"/>
            <a:ext cx="3108960"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Actuated</a:t>
            </a:r>
          </a:p>
        </p:txBody>
      </p:sp>
      <p:sp>
        <p:nvSpPr>
          <p:cNvPr id="34" name="TextBox 33"/>
          <p:cNvSpPr txBox="1"/>
          <p:nvPr/>
        </p:nvSpPr>
        <p:spPr>
          <a:xfrm>
            <a:off x="777240" y="5532120"/>
            <a:ext cx="10680192" cy="45720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Every miss level on this slide has lower mean fuel than every reference line. Noise-model point (see noise_model.json) is 0.125 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WHERE IT DOES NOT TRANSFER</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The 2×2 grid was not scored in this publish</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A corridor result is only quoted from results/grid_results.json after a successful sweep.</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20</a:t>
            </a:r>
          </a:p>
        </p:txBody>
      </p:sp>
      <p:sp>
        <p:nvSpPr>
          <p:cNvPr id="8" name="Rounded Rectangle 7"/>
          <p:cNvSpPr/>
          <p:nvPr/>
        </p:nvSpPr>
        <p:spPr>
          <a:xfrm>
            <a:off x="502920" y="1737360"/>
            <a:ext cx="11228832" cy="329184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10497311" cy="36576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Calibri"/>
                <a:ea typeface="Calibri"/>
                <a:cs typeface="Calibri"/>
              </a:rPr>
              <a:t>NO NUMERIC GRID CLAIM</a:t>
            </a:r>
          </a:p>
        </p:txBody>
      </p:sp>
      <p:sp>
        <p:nvSpPr>
          <p:cNvPr id="10" name="TextBox 9"/>
          <p:cNvSpPr txBox="1"/>
          <p:nvPr/>
        </p:nvSpPr>
        <p:spPr>
          <a:xfrm>
            <a:off x="868680" y="2606040"/>
            <a:ext cx="10497311" cy="1645920"/>
          </a:xfrm>
          <a:prstGeom prst="rect">
            <a:avLst/>
          </a:prstGeom>
          <a:noFill/>
        </p:spPr>
        <p:txBody>
          <a:bodyPr wrap="square" lIns="0" rIns="0" tIns="0" bIns="0" anchor="t"/>
          <a:lstStyle/>
          <a:p>
            <a:pPr algn="l">
              <a:spcBef>
                <a:spcPts val="0"/>
              </a:spcBef>
              <a:spcAft>
                <a:spcPts val="0"/>
              </a:spcAft>
            </a:pPr>
            <a:r>
              <a:rPr sz="1800" b="0" i="0">
                <a:solidFill>
                  <a:srgbClr val="FFFFFF"/>
                </a:solidFill>
                <a:latin typeface="Calibri"/>
                <a:ea typeface="Calibri"/>
                <a:cs typeface="Calibri"/>
              </a:rPr>
              <a:t>2x2 grid not scored in this time-cut run. duarouter path was fixed, but the single-intersection tls.add.xml does not provide programs for the grid TLS ids, so SUMO aborts.</a:t>
            </a:r>
          </a:p>
        </p:txBody>
      </p:sp>
      <p:sp>
        <p:nvSpPr>
          <p:cNvPr id="11" name="TextBox 10"/>
          <p:cNvSpPr txBox="1"/>
          <p:nvPr/>
        </p:nvSpPr>
        <p:spPr>
          <a:xfrm>
            <a:off x="868680" y="4434840"/>
            <a:ext cx="10497311" cy="365760"/>
          </a:xfrm>
          <a:prstGeom prst="rect">
            <a:avLst/>
          </a:prstGeom>
          <a:noFill/>
        </p:spPr>
        <p:txBody>
          <a:bodyPr wrap="square" lIns="0" rIns="0" tIns="0" bIns="0" anchor="t"/>
          <a:lstStyle/>
          <a:p>
            <a:pPr algn="l">
              <a:spcBef>
                <a:spcPts val="0"/>
              </a:spcBef>
              <a:spcAft>
                <a:spcPts val="0"/>
              </a:spcAft>
            </a:pPr>
            <a:r>
              <a:rPr sz="1500" b="0" i="0">
                <a:solidFill>
                  <a:srgbClr val="C9D4DC"/>
                </a:solidFill>
                <a:latin typeface="Calibri"/>
                <a:ea typeface="Calibri"/>
                <a:cs typeface="Calibri"/>
              </a:rPr>
              <a:t>Do not scale the single-junction result to a city.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BESIDE THE HEADLINE</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Safety: Fewer conflicts. Emissions: Intervals overlap.</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Both lines are the verdict fields in the loaded JSON, not a fixed sentence.</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21</a:t>
            </a:r>
          </a:p>
        </p:txBody>
      </p:sp>
      <p:sp>
        <p:nvSpPr>
          <p:cNvPr id="8" name="Rounded Rectangle 7"/>
          <p:cNvSpPr/>
          <p:nvPr/>
        </p:nvSpPr>
        <p:spPr>
          <a:xfrm>
            <a:off x="502920"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828800"/>
            <a:ext cx="502920" cy="411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2011680"/>
            <a:ext cx="3221735" cy="274320"/>
          </a:xfrm>
          <a:prstGeom prst="rect">
            <a:avLst/>
          </a:prstGeom>
          <a:noFill/>
        </p:spPr>
        <p:txBody>
          <a:bodyPr wrap="square" lIns="0" rIns="0" tIns="0" bIns="0" anchor="t"/>
          <a:lstStyle/>
          <a:p>
            <a:pPr algn="l">
              <a:spcBef>
                <a:spcPts val="0"/>
              </a:spcBef>
              <a:spcAft>
                <a:spcPts val="0"/>
              </a:spcAft>
            </a:pPr>
            <a:r>
              <a:rPr sz="1200" b="1" i="0">
                <a:solidFill>
                  <a:srgbClr val="1B6B5A"/>
                </a:solidFill>
                <a:latin typeface="Calibri"/>
                <a:ea typeface="Calibri"/>
                <a:cs typeface="Calibri"/>
              </a:rPr>
              <a:t>SAFETY</a:t>
            </a:r>
          </a:p>
        </p:txBody>
      </p:sp>
      <p:sp>
        <p:nvSpPr>
          <p:cNvPr id="11" name="TextBox 10"/>
          <p:cNvSpPr txBox="1"/>
          <p:nvPr/>
        </p:nvSpPr>
        <p:spPr>
          <a:xfrm>
            <a:off x="722376" y="2331720"/>
            <a:ext cx="3221735" cy="777240"/>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Fewer conflicts</a:t>
            </a:r>
          </a:p>
        </p:txBody>
      </p:sp>
      <p:sp>
        <p:nvSpPr>
          <p:cNvPr id="12" name="TextBox 11"/>
          <p:cNvSpPr txBox="1"/>
          <p:nvPr/>
        </p:nvSpPr>
        <p:spPr>
          <a:xfrm>
            <a:off x="722376" y="3246120"/>
            <a:ext cx="3194304" cy="1874519"/>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Time-to-collision conflicts from the simulator. A model count, not a crash record.</a:t>
            </a:r>
          </a:p>
        </p:txBody>
      </p:sp>
      <p:sp>
        <p:nvSpPr>
          <p:cNvPr id="13" name="Rounded Rectangle 12"/>
          <p:cNvSpPr/>
          <p:nvPr/>
        </p:nvSpPr>
        <p:spPr>
          <a:xfrm>
            <a:off x="4300728"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38472" y="1828800"/>
            <a:ext cx="502920" cy="411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0184" y="2011680"/>
            <a:ext cx="3221735" cy="274320"/>
          </a:xfrm>
          <a:prstGeom prst="rect">
            <a:avLst/>
          </a:prstGeom>
          <a:noFill/>
        </p:spPr>
        <p:txBody>
          <a:bodyPr wrap="square" lIns="0" rIns="0" tIns="0" bIns="0" anchor="t"/>
          <a:lstStyle/>
          <a:p>
            <a:pPr algn="l">
              <a:spcBef>
                <a:spcPts val="0"/>
              </a:spcBef>
              <a:spcAft>
                <a:spcPts val="0"/>
              </a:spcAft>
            </a:pPr>
            <a:r>
              <a:rPr sz="1200" b="1" i="0">
                <a:solidFill>
                  <a:srgbClr val="1B6B5A"/>
                </a:solidFill>
                <a:latin typeface="Calibri"/>
                <a:ea typeface="Calibri"/>
                <a:cs typeface="Calibri"/>
              </a:rPr>
              <a:t>EMISSIONS MODEL</a:t>
            </a:r>
          </a:p>
        </p:txBody>
      </p:sp>
      <p:sp>
        <p:nvSpPr>
          <p:cNvPr id="16" name="TextBox 15"/>
          <p:cNvSpPr txBox="1"/>
          <p:nvPr/>
        </p:nvSpPr>
        <p:spPr>
          <a:xfrm>
            <a:off x="4520184" y="2331720"/>
            <a:ext cx="3221735" cy="777240"/>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Intervals overlap</a:t>
            </a:r>
          </a:p>
        </p:txBody>
      </p:sp>
      <p:sp>
        <p:nvSpPr>
          <p:cNvPr id="17" name="TextBox 16"/>
          <p:cNvSpPr txBox="1"/>
          <p:nvPr/>
        </p:nvSpPr>
        <p:spPr>
          <a:xfrm>
            <a:off x="4520184" y="3246120"/>
            <a:ext cx="3194304" cy="1874519"/>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Primary model 13.9%. Alternate model 13.7%. The reduction shrinks. It does not flip.</a:t>
            </a:r>
          </a:p>
        </p:txBody>
      </p:sp>
      <p:sp>
        <p:nvSpPr>
          <p:cNvPr id="18" name="Rounded Rectangle 17"/>
          <p:cNvSpPr/>
          <p:nvPr/>
        </p:nvSpPr>
        <p:spPr>
          <a:xfrm>
            <a:off x="8098536"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36280" y="1828800"/>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7992" y="2011680"/>
            <a:ext cx="3221735"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PERCEPTION</a:t>
            </a:r>
          </a:p>
        </p:txBody>
      </p:sp>
      <p:sp>
        <p:nvSpPr>
          <p:cNvPr id="21" name="TextBox 20"/>
          <p:cNvSpPr txBox="1"/>
          <p:nvPr/>
        </p:nvSpPr>
        <p:spPr>
          <a:xfrm>
            <a:off x="8317992" y="2331720"/>
            <a:ext cx="3221735" cy="777240"/>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YOLO demo ready</a:t>
            </a:r>
          </a:p>
        </p:txBody>
      </p:sp>
      <p:sp>
        <p:nvSpPr>
          <p:cNvPr id="22" name="TextBox 21"/>
          <p:cNvSpPr txBox="1"/>
          <p:nvPr/>
        </p:nvSpPr>
        <p:spPr>
          <a:xfrm>
            <a:off x="8317992" y="3246120"/>
            <a:ext cx="3194304" cy="1874519"/>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Camera overlays exist under results/demo/yolo/. They are input feasibility only. Locked TEST fuel still uses the oracle detector. Robustness miss rates remain assumed until labeled video replaces the noise model.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SCALING</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Per vehicle is measured. Per year is a range.</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The wide bar is the assumed city size, not uncertainty in the junction test.</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22</a:t>
            </a:r>
          </a:p>
        </p:txBody>
      </p:sp>
      <p:sp>
        <p:nvSpPr>
          <p:cNvPr id="8" name="Rounded Rectangle 7"/>
          <p:cNvSpPr/>
          <p:nvPr/>
        </p:nvSpPr>
        <p:spPr>
          <a:xfrm>
            <a:off x="502920" y="1572768"/>
            <a:ext cx="6720840"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719072"/>
            <a:ext cx="6217920"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MEASURED VS BEST BASELINE (SCENARIO-WEIGHTED)</a:t>
            </a:r>
          </a:p>
        </p:txBody>
      </p:sp>
      <p:sp>
        <p:nvSpPr>
          <p:cNvPr id="10" name="TextBox 9"/>
          <p:cNvSpPr txBox="1"/>
          <p:nvPr/>
        </p:nvSpPr>
        <p:spPr>
          <a:xfrm>
            <a:off x="758952" y="2029968"/>
            <a:ext cx="6217920" cy="594360"/>
          </a:xfrm>
          <a:prstGeom prst="rect">
            <a:avLst/>
          </a:prstGeom>
          <a:noFill/>
        </p:spPr>
        <p:txBody>
          <a:bodyPr wrap="square" lIns="0" rIns="0" tIns="0" bIns="0" anchor="t"/>
          <a:lstStyle/>
          <a:p>
            <a:pPr algn="l">
              <a:spcBef>
                <a:spcPts val="0"/>
              </a:spcBef>
              <a:spcAft>
                <a:spcPts val="0"/>
              </a:spcAft>
            </a:pPr>
            <a:r>
              <a:rPr sz="3200" b="1" i="0">
                <a:solidFill>
                  <a:srgbClr val="1B6B5A"/>
                </a:solidFill>
                <a:latin typeface="Georgia"/>
                <a:ea typeface="Georgia"/>
                <a:cs typeface="Georgia"/>
              </a:rPr>
              <a:t>0.001</a:t>
            </a:r>
            <a:r>
              <a:rPr sz="1600" b="0" i="0">
                <a:solidFill>
                  <a:srgbClr val="1A2834"/>
                </a:solidFill>
                <a:latin typeface="Calibri"/>
                <a:ea typeface="Calibri"/>
                <a:cs typeface="Calibri"/>
              </a:rPr>
              <a:t>  L saved / vehicle</a:t>
            </a:r>
          </a:p>
        </p:txBody>
      </p:sp>
      <p:sp>
        <p:nvSpPr>
          <p:cNvPr id="11" name="TextBox 10"/>
          <p:cNvSpPr txBox="1"/>
          <p:nvPr/>
        </p:nvSpPr>
        <p:spPr>
          <a:xfrm>
            <a:off x="758952" y="2788920"/>
            <a:ext cx="6217920" cy="45720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5th – 95th percentile of that mean: 0.001 – 0.002 L</a:t>
            </a:r>
          </a:p>
        </p:txBody>
      </p:sp>
      <p:sp>
        <p:nvSpPr>
          <p:cNvPr id="12" name="TextBox 11"/>
          <p:cNvSpPr txBox="1"/>
          <p:nvPr/>
        </p:nvSpPr>
        <p:spPr>
          <a:xfrm>
            <a:off x="502920" y="3703320"/>
            <a:ext cx="6675120"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IF THAT SAVING IS MULTIPLIED OUT</a:t>
            </a:r>
          </a:p>
        </p:txBody>
      </p:sp>
      <p:sp>
        <p:nvSpPr>
          <p:cNvPr id="13" name="Rectangle 12"/>
          <p:cNvSpPr/>
          <p:nvPr/>
        </p:nvSpPr>
        <p:spPr>
          <a:xfrm>
            <a:off x="502920" y="4041648"/>
            <a:ext cx="6720840" cy="128016"/>
          </a:xfrm>
          <a:prstGeom prst="rect">
            <a:avLst/>
          </a:prstGeom>
          <a:solidFill>
            <a:srgbClr val="C5D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9803" y="3913632"/>
            <a:ext cx="54864"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370832"/>
            <a:ext cx="292608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0.3 million litres</a:t>
            </a:r>
          </a:p>
        </p:txBody>
      </p:sp>
      <p:sp>
        <p:nvSpPr>
          <p:cNvPr id="16" name="TextBox 15"/>
          <p:cNvSpPr txBox="1"/>
          <p:nvPr/>
        </p:nvSpPr>
        <p:spPr>
          <a:xfrm>
            <a:off x="4297680" y="4370832"/>
            <a:ext cx="2926080" cy="256032"/>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Calibri"/>
                <a:ea typeface="Calibri"/>
                <a:cs typeface="Calibri"/>
              </a:rPr>
              <a:t>2.7 million litres</a:t>
            </a:r>
          </a:p>
        </p:txBody>
      </p:sp>
      <p:sp>
        <p:nvSpPr>
          <p:cNvPr id="17" name="TextBox 16"/>
          <p:cNvSpPr txBox="1"/>
          <p:nvPr/>
        </p:nvSpPr>
        <p:spPr>
          <a:xfrm>
            <a:off x="502920" y="4754880"/>
            <a:ext cx="6675120" cy="438912"/>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0.9 million litres</a:t>
            </a:r>
          </a:p>
        </p:txBody>
      </p:sp>
      <p:sp>
        <p:nvSpPr>
          <p:cNvPr id="18" name="TextBox 17"/>
          <p:cNvSpPr txBox="1"/>
          <p:nvPr/>
        </p:nvSpPr>
        <p:spPr>
          <a:xfrm>
            <a:off x="502920" y="5193792"/>
            <a:ext cx="6675120" cy="25603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median of the scaled draws</a:t>
            </a:r>
          </a:p>
        </p:txBody>
      </p:sp>
      <p:sp>
        <p:nvSpPr>
          <p:cNvPr id="19" name="TextBox 18"/>
          <p:cNvSpPr txBox="1"/>
          <p:nvPr/>
        </p:nvSpPr>
        <p:spPr>
          <a:xfrm>
            <a:off x="502920" y="5532120"/>
            <a:ext cx="6675120" cy="5029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CO₂ median 2,296 tonnes   ·   629 tonnes – 6,640 tonnes</a:t>
            </a:r>
          </a:p>
        </p:txBody>
      </p:sp>
      <p:sp>
        <p:nvSpPr>
          <p:cNvPr id="20" name="Rounded Rectangle 19"/>
          <p:cNvSpPr/>
          <p:nvPr/>
        </p:nvSpPr>
        <p:spPr>
          <a:xfrm>
            <a:off x="7406640" y="1572768"/>
            <a:ext cx="4325112" cy="4526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26096" y="1737360"/>
            <a:ext cx="3931920"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Why the bar is wide</a:t>
            </a:r>
          </a:p>
        </p:txBody>
      </p:sp>
      <p:sp>
        <p:nvSpPr>
          <p:cNvPr id="22" name="TextBox 21"/>
          <p:cNvSpPr txBox="1"/>
          <p:nvPr/>
        </p:nvSpPr>
        <p:spPr>
          <a:xfrm>
            <a:off x="7626096" y="2468880"/>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Junctions</a:t>
            </a:r>
          </a:p>
        </p:txBody>
      </p:sp>
      <p:sp>
        <p:nvSpPr>
          <p:cNvPr id="23" name="TextBox 22"/>
          <p:cNvSpPr txBox="1"/>
          <p:nvPr/>
        </p:nvSpPr>
        <p:spPr>
          <a:xfrm>
            <a:off x="7626096" y="2670048"/>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50  –  1,000</a:t>
            </a:r>
          </a:p>
        </p:txBody>
      </p:sp>
      <p:sp>
        <p:nvSpPr>
          <p:cNvPr id="24" name="TextBox 23"/>
          <p:cNvSpPr txBox="1"/>
          <p:nvPr/>
        </p:nvSpPr>
        <p:spPr>
          <a:xfrm>
            <a:off x="7626096" y="3127248"/>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Vehicles / peak hour</a:t>
            </a:r>
          </a:p>
        </p:txBody>
      </p:sp>
      <p:sp>
        <p:nvSpPr>
          <p:cNvPr id="25" name="TextBox 24"/>
          <p:cNvSpPr txBox="1"/>
          <p:nvPr/>
        </p:nvSpPr>
        <p:spPr>
          <a:xfrm>
            <a:off x="7626096" y="3328416"/>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800  –  2,200</a:t>
            </a:r>
          </a:p>
        </p:txBody>
      </p:sp>
      <p:sp>
        <p:nvSpPr>
          <p:cNvPr id="26" name="TextBox 25"/>
          <p:cNvSpPr txBox="1"/>
          <p:nvPr/>
        </p:nvSpPr>
        <p:spPr>
          <a:xfrm>
            <a:off x="7626096" y="3785615"/>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Peak hours / day</a:t>
            </a:r>
          </a:p>
        </p:txBody>
      </p:sp>
      <p:sp>
        <p:nvSpPr>
          <p:cNvPr id="27" name="TextBox 26"/>
          <p:cNvSpPr txBox="1"/>
          <p:nvPr/>
        </p:nvSpPr>
        <p:spPr>
          <a:xfrm>
            <a:off x="7626096" y="3986783"/>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3  –  7</a:t>
            </a:r>
          </a:p>
        </p:txBody>
      </p:sp>
      <p:sp>
        <p:nvSpPr>
          <p:cNvPr id="28" name="TextBox 27"/>
          <p:cNvSpPr txBox="1"/>
          <p:nvPr/>
        </p:nvSpPr>
        <p:spPr>
          <a:xfrm>
            <a:off x="7626096" y="4443983"/>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Days / year</a:t>
            </a:r>
          </a:p>
        </p:txBody>
      </p:sp>
      <p:sp>
        <p:nvSpPr>
          <p:cNvPr id="29" name="TextBox 28"/>
          <p:cNvSpPr txBox="1"/>
          <p:nvPr/>
        </p:nvSpPr>
        <p:spPr>
          <a:xfrm>
            <a:off x="7626096" y="4645151"/>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250  –  330</a:t>
            </a:r>
          </a:p>
        </p:txBody>
      </p:sp>
      <p:sp>
        <p:nvSpPr>
          <p:cNvPr id="30" name="TextBox 29"/>
          <p:cNvSpPr txBox="1"/>
          <p:nvPr/>
        </p:nvSpPr>
        <p:spPr>
          <a:xfrm>
            <a:off x="7626096" y="5349240"/>
            <a:ext cx="3886200" cy="54864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Rupee value uses a placeholder price, so it is not shown.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C2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777240"/>
            <a:ext cx="7315200" cy="256032"/>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BEFORE A STRONGER CLAIM</a:t>
            </a:r>
          </a:p>
        </p:txBody>
      </p:sp>
      <p:sp>
        <p:nvSpPr>
          <p:cNvPr id="4" name="TextBox 3"/>
          <p:cNvSpPr txBox="1"/>
          <p:nvPr/>
        </p:nvSpPr>
        <p:spPr>
          <a:xfrm>
            <a:off x="685800" y="1097280"/>
            <a:ext cx="10058400" cy="731520"/>
          </a:xfrm>
          <a:prstGeom prst="rect">
            <a:avLst/>
          </a:prstGeom>
          <a:noFill/>
        </p:spPr>
        <p:txBody>
          <a:bodyPr wrap="square" lIns="0" rIns="0" tIns="0" bIns="0" anchor="t"/>
          <a:lstStyle/>
          <a:p>
            <a:pPr algn="l">
              <a:spcBef>
                <a:spcPts val="0"/>
              </a:spcBef>
              <a:spcAft>
                <a:spcPts val="0"/>
              </a:spcAft>
            </a:pPr>
            <a:r>
              <a:rPr sz="4400" b="1" i="0">
                <a:solidFill>
                  <a:srgbClr val="FFFFFF"/>
                </a:solidFill>
                <a:latin typeface="Georgia"/>
                <a:ea typeface="Georgia"/>
                <a:cs typeface="Georgia"/>
              </a:rPr>
              <a:t>XtraFlow</a:t>
            </a:r>
          </a:p>
        </p:txBody>
      </p:sp>
      <p:sp>
        <p:nvSpPr>
          <p:cNvPr id="5" name="TextBox 4"/>
          <p:cNvSpPr txBox="1"/>
          <p:nvPr/>
        </p:nvSpPr>
        <p:spPr>
          <a:xfrm>
            <a:off x="713232" y="1920240"/>
            <a:ext cx="9601200" cy="640080"/>
          </a:xfrm>
          <a:prstGeom prst="rect">
            <a:avLst/>
          </a:prstGeom>
          <a:noFill/>
        </p:spPr>
        <p:txBody>
          <a:bodyPr wrap="square" lIns="0" rIns="0" tIns="0" bIns="0" anchor="t"/>
          <a:lstStyle/>
          <a:p>
            <a:pPr algn="l">
              <a:spcBef>
                <a:spcPts val="0"/>
              </a:spcBef>
              <a:spcAft>
                <a:spcPts val="0"/>
              </a:spcAft>
            </a:pPr>
            <a:r>
              <a:rPr sz="2400" b="0" i="0">
                <a:solidFill>
                  <a:srgbClr val="F0C26A"/>
                </a:solidFill>
                <a:latin typeface="Georgia"/>
                <a:ea typeface="Georgia"/>
                <a:cs typeface="Georgia"/>
              </a:rPr>
              <a:t>Smarter signals should burn less fuel.</a:t>
            </a:r>
          </a:p>
        </p:txBody>
      </p:sp>
      <p:sp>
        <p:nvSpPr>
          <p:cNvPr id="6" name="Rounded Rectangle 5"/>
          <p:cNvSpPr/>
          <p:nvPr/>
        </p:nvSpPr>
        <p:spPr>
          <a:xfrm>
            <a:off x="502920" y="2880360"/>
            <a:ext cx="3645407" cy="2011680"/>
          </a:xfrm>
          <a:prstGeom prst="roundRect">
            <a:avLst>
              <a:gd name="adj" fmla="val 8000"/>
            </a:avLst>
          </a:prstGeom>
          <a:solidFill>
            <a:srgbClr val="17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3035808"/>
            <a:ext cx="3279648" cy="27432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Georgia"/>
                <a:ea typeface="Georgia"/>
                <a:cs typeface="Georgia"/>
              </a:rPr>
              <a:t>01</a:t>
            </a:r>
          </a:p>
        </p:txBody>
      </p:sp>
      <p:sp>
        <p:nvSpPr>
          <p:cNvPr id="8" name="TextBox 7"/>
          <p:cNvSpPr txBox="1"/>
          <p:nvPr/>
        </p:nvSpPr>
        <p:spPr>
          <a:xfrm>
            <a:off x="704088" y="3383280"/>
            <a:ext cx="3261360" cy="502920"/>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Georgia"/>
                <a:ea typeface="Georgia"/>
                <a:cs typeface="Georgia"/>
              </a:rPr>
              <a:t>Count the junction</a:t>
            </a:r>
          </a:p>
        </p:txBody>
      </p:sp>
      <p:sp>
        <p:nvSpPr>
          <p:cNvPr id="9" name="TextBox 8"/>
          <p:cNvSpPr txBox="1"/>
          <p:nvPr/>
        </p:nvSpPr>
        <p:spPr>
          <a:xfrm>
            <a:off x="704088" y="3977639"/>
            <a:ext cx="3261360" cy="7315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Replace the assumed flows with observed demand before quoting a site.</a:t>
            </a:r>
          </a:p>
        </p:txBody>
      </p:sp>
      <p:sp>
        <p:nvSpPr>
          <p:cNvPr id="10" name="Rounded Rectangle 9"/>
          <p:cNvSpPr/>
          <p:nvPr/>
        </p:nvSpPr>
        <p:spPr>
          <a:xfrm>
            <a:off x="4294632" y="2880360"/>
            <a:ext cx="3645407" cy="2011680"/>
          </a:xfrm>
          <a:prstGeom prst="roundRect">
            <a:avLst>
              <a:gd name="adj" fmla="val 8000"/>
            </a:avLst>
          </a:prstGeom>
          <a:solidFill>
            <a:srgbClr val="17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5799" y="3035808"/>
            <a:ext cx="3279648" cy="27432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Georgia"/>
                <a:ea typeface="Georgia"/>
                <a:cs typeface="Georgia"/>
              </a:rPr>
              <a:t>02</a:t>
            </a:r>
          </a:p>
        </p:txBody>
      </p:sp>
      <p:sp>
        <p:nvSpPr>
          <p:cNvPr id="12" name="TextBox 11"/>
          <p:cNvSpPr txBox="1"/>
          <p:nvPr/>
        </p:nvSpPr>
        <p:spPr>
          <a:xfrm>
            <a:off x="4495799" y="3383280"/>
            <a:ext cx="3261360" cy="502920"/>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Georgia"/>
                <a:ea typeface="Georgia"/>
                <a:cs typeface="Georgia"/>
              </a:rPr>
              <a:t>Film the queue</a:t>
            </a:r>
          </a:p>
        </p:txBody>
      </p:sp>
      <p:sp>
        <p:nvSpPr>
          <p:cNvPr id="13" name="TextBox 12"/>
          <p:cNvSpPr txBox="1"/>
          <p:nvPr/>
        </p:nvSpPr>
        <p:spPr>
          <a:xfrm>
            <a:off x="4495799" y="3977639"/>
            <a:ext cx="3261360" cy="7315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YOLO overlays are a feasibility demo. Replace assumed detector-error with labeled site video.</a:t>
            </a:r>
          </a:p>
        </p:txBody>
      </p:sp>
      <p:sp>
        <p:nvSpPr>
          <p:cNvPr id="14" name="Rounded Rectangle 13"/>
          <p:cNvSpPr/>
          <p:nvPr/>
        </p:nvSpPr>
        <p:spPr>
          <a:xfrm>
            <a:off x="8086344" y="2880360"/>
            <a:ext cx="3645407" cy="2011680"/>
          </a:xfrm>
          <a:prstGeom prst="roundRect">
            <a:avLst>
              <a:gd name="adj" fmla="val 8000"/>
            </a:avLst>
          </a:prstGeom>
          <a:solidFill>
            <a:srgbClr val="17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7512" y="3035808"/>
            <a:ext cx="3279648" cy="27432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Georgia"/>
                <a:ea typeface="Georgia"/>
                <a:cs typeface="Georgia"/>
              </a:rPr>
              <a:t>03</a:t>
            </a:r>
          </a:p>
        </p:txBody>
      </p:sp>
      <p:sp>
        <p:nvSpPr>
          <p:cNvPr id="16" name="TextBox 15"/>
          <p:cNvSpPr txBox="1"/>
          <p:nvPr/>
        </p:nvSpPr>
        <p:spPr>
          <a:xfrm>
            <a:off x="8287512" y="3383280"/>
            <a:ext cx="3261360" cy="502920"/>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Georgia"/>
                <a:ea typeface="Georgia"/>
                <a:cs typeface="Georgia"/>
              </a:rPr>
              <a:t>Score the corridor</a:t>
            </a:r>
          </a:p>
        </p:txBody>
      </p:sp>
      <p:sp>
        <p:nvSpPr>
          <p:cNvPr id="17" name="TextBox 16"/>
          <p:cNvSpPr txBox="1"/>
          <p:nvPr/>
        </p:nvSpPr>
        <p:spPr>
          <a:xfrm>
            <a:off x="8287512" y="3977639"/>
            <a:ext cx="3261360" cy="7315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Quote a grid result only from results/grid_results.json after a successful sweep.</a:t>
            </a:r>
          </a:p>
        </p:txBody>
      </p:sp>
      <p:sp>
        <p:nvSpPr>
          <p:cNvPr id="18" name="TextBox 17"/>
          <p:cNvSpPr txBox="1"/>
          <p:nvPr/>
        </p:nvSpPr>
        <p:spPr>
          <a:xfrm>
            <a:off x="713232" y="5074920"/>
            <a:ext cx="1005840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This deck: 8 controllers · 5 test seeds (1–5) · oracle detector unless camera mode is on. · YOLO demo included</a:t>
            </a:r>
          </a:p>
        </p:txBody>
      </p:sp>
      <p:sp>
        <p:nvSpPr>
          <p:cNvPr id="19" name="TextBox 18"/>
          <p:cNvSpPr txBox="1"/>
          <p:nvPr/>
        </p:nvSpPr>
        <p:spPr>
          <a:xfrm>
            <a:off x="713232" y="5440680"/>
            <a:ext cx="9144000" cy="2743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github.com/couder-04/XtraFlow</a:t>
            </a:r>
          </a:p>
        </p:txBody>
      </p:sp>
      <p:sp>
        <p:nvSpPr>
          <p:cNvPr id="20" name="TextBox 19"/>
          <p:cNvSpPr txBox="1"/>
          <p:nvPr/>
        </p:nvSpPr>
        <p:spPr>
          <a:xfrm>
            <a:off x="713232" y="5760720"/>
            <a:ext cx="10058400" cy="365760"/>
          </a:xfrm>
          <a:prstGeom prst="rect">
            <a:avLst/>
          </a:prstGeom>
          <a:noFill/>
        </p:spPr>
        <p:txBody>
          <a:bodyPr wrap="square" lIns="0" rIns="0" tIns="0" bIns="0" anchor="t"/>
          <a:lstStyle/>
          <a:p>
            <a:pPr algn="l">
              <a:spcBef>
                <a:spcPts val="0"/>
              </a:spcBef>
              <a:spcAft>
                <a:spcPts val="0"/>
              </a:spcAft>
            </a:pPr>
            <a:r>
              <a:rPr sz="1400" b="0" i="0">
                <a:solidFill>
                  <a:srgbClr val="8A9BA8"/>
                </a:solidFill>
                <a:latin typeface="Calibri"/>
                <a:ea typeface="Calibri"/>
                <a:cs typeface="Calibri"/>
              </a:rPr>
              <a:t>Simulation-based estimate; assumed traffic mix</a:t>
            </a:r>
          </a:p>
        </p:txBody>
      </p:sp>
      <p:sp>
        <p:nvSpPr>
          <p:cNvPr id="21" name="TextBox 20"/>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XtraFlow    ·    Simulation-based estimate</a:t>
            </a:r>
          </a:p>
        </p:txBody>
      </p:sp>
      <p:sp>
        <p:nvSpPr>
          <p:cNvPr id="22" name="TextBox 21"/>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C9D4DC"/>
                </a:solidFill>
                <a:latin typeface="Georgia"/>
                <a:ea typeface="Georgia"/>
                <a:cs typeface="Georgia"/>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XtraFlow</dc:title>
  <dc:subject>Fuel-weighted traffic signals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Simulation-based estimate; assumed traffic mix</cp:category>
</cp:coreProperties>
</file>