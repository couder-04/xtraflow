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Scope: 5 test seeds (1–5). Source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about the camera: the noise model is assumed. Supply data/video and labels to replace it.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the ones stored in results/raw_runs.csv. Sublane use is the used_sublane field in results/sublane_fallback.json. RL note: Time cut. This zip is the 200000-step model. It was not scored on VALIDATION or TEST, so rl_ppo is not in raw_runs.csv.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headline is versus the best of fixed_tuned, actuated, queue_pressure, and maxpressure. Legacy fixed is secondary (pct_fuel_reduction_vs_fixed_legacy). Numbers are from results/headlines.json.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paired intervals on this slide from the loaded comparison table. Do not add a verdict that is not in those intervals. RL is a baseline trained with the budget in rl_selection.json.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PNGs are written by analyze.py after the locked TEST. Do not describe a trend that is not visible in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results/demo/demo.mp4 (or demo.gif) while presenting. Say that the demo is qualitative; the headline numbers are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are grouped from results/robustness.json. Do not describe the curve as flat unless the loaded means say so. The noise-model source field is empirical only when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results/grid_results.json. If rows and summary_means are empty, say the grid was not scored.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Perception flag is ASSUMED_NOISE_MODEL_NO_USER_VIDEO.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Do not end on the annual litre range. The headline comparison is in results/headlines.json.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demand, 8 controllers, 4 demand patterns. Not a field deployment.</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5</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8</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controllers in TEST</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assumed traffic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Max-pressure, with one change: a vehicle counts in proportion to its idle fuel, relative to a car.</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YOLO with a region of interest can read the same queue. This run had no field video, so detector error is assumed (15% miss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5 test seeds (1–5).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5</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5 locked seeds in raw_runs.csv</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Tuned fixed, Webster, Actuated, Queue pressure, Max-pressure, Count only. PPO was trained to the config budget and is not in this TEST table.</a:t>
            </a:r>
          </a:p>
        </p:txBody>
      </p:sp>
      <p:sp>
        <p:nvSpPr>
          <p:cNvPr id="33" name="TextBox 32"/>
          <p:cNvSpPr txBox="1"/>
          <p:nvPr/>
        </p:nvSpPr>
        <p:spPr>
          <a:xfrm>
            <a:off x="502920" y="5669280"/>
            <a:ext cx="11228832" cy="3200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Sublane probe used. Full-demand stability under that setting is not re-claimed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Lower mean fuel than the strongest baseline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per completed vehicle versus the best tuned baseline. 5 paired seeds. Bootstrap 95% intervals.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Low demand</a:t>
            </a:r>
          </a:p>
        </p:txBody>
      </p:sp>
      <p:sp>
        <p:nvSpPr>
          <p:cNvPr id="11" name="TextBox 10"/>
          <p:cNvSpPr txBox="1"/>
          <p:nvPr/>
        </p:nvSpPr>
        <p:spPr>
          <a:xfrm>
            <a:off x="704088"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1.9</a:t>
            </a:r>
            <a:r>
              <a:rPr sz="1600" b="1" i="0">
                <a:solidFill>
                  <a:srgbClr val="1B6B5A"/>
                </a:solidFill>
                <a:latin typeface="Georgia"/>
                <a:ea typeface="Georgia"/>
                <a:cs typeface="Georgia"/>
              </a:rPr>
              <a:t>%</a:t>
            </a:r>
          </a:p>
        </p:txBody>
      </p:sp>
      <p:sp>
        <p:nvSpPr>
          <p:cNvPr id="12" name="TextBox 11"/>
          <p:cNvSpPr txBox="1"/>
          <p:nvPr/>
        </p:nvSpPr>
        <p:spPr>
          <a:xfrm>
            <a:off x="704088"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0.5  –  3.0</a:t>
            </a:r>
          </a:p>
        </p:txBody>
      </p:sp>
      <p:sp>
        <p:nvSpPr>
          <p:cNvPr id="13" name="TextBox 12"/>
          <p:cNvSpPr txBox="1"/>
          <p:nvPr/>
        </p:nvSpPr>
        <p:spPr>
          <a:xfrm>
            <a:off x="704088"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14" name="TextBox 13"/>
          <p:cNvSpPr txBox="1"/>
          <p:nvPr/>
        </p:nvSpPr>
        <p:spPr>
          <a:xfrm>
            <a:off x="704088"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14.1%</a:t>
            </a:r>
          </a:p>
        </p:txBody>
      </p:sp>
      <p:sp>
        <p:nvSpPr>
          <p:cNvPr id="15" name="Rectangle 14"/>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Shifting</a:t>
            </a:r>
          </a:p>
        </p:txBody>
      </p:sp>
      <p:sp>
        <p:nvSpPr>
          <p:cNvPr id="20" name="TextBox 19"/>
          <p:cNvSpPr txBox="1"/>
          <p:nvPr/>
        </p:nvSpPr>
        <p:spPr>
          <a:xfrm>
            <a:off x="3547872"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1.1</a:t>
            </a:r>
            <a:r>
              <a:rPr sz="1600" b="1" i="0">
                <a:solidFill>
                  <a:srgbClr val="1B6B5A"/>
                </a:solidFill>
                <a:latin typeface="Georgia"/>
                <a:ea typeface="Georgia"/>
                <a:cs typeface="Georgia"/>
              </a:rPr>
              <a:t>%</a:t>
            </a:r>
          </a:p>
        </p:txBody>
      </p:sp>
      <p:sp>
        <p:nvSpPr>
          <p:cNvPr id="21" name="TextBox 20"/>
          <p:cNvSpPr txBox="1"/>
          <p:nvPr/>
        </p:nvSpPr>
        <p:spPr>
          <a:xfrm>
            <a:off x="3547872"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0.6  –  1.7</a:t>
            </a:r>
          </a:p>
        </p:txBody>
      </p:sp>
      <p:sp>
        <p:nvSpPr>
          <p:cNvPr id="22" name="TextBox 21"/>
          <p:cNvSpPr txBox="1"/>
          <p:nvPr/>
        </p:nvSpPr>
        <p:spPr>
          <a:xfrm>
            <a:off x="3547872"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23" name="TextBox 22"/>
          <p:cNvSpPr txBox="1"/>
          <p:nvPr/>
        </p:nvSpPr>
        <p:spPr>
          <a:xfrm>
            <a:off x="3547872"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13.2%</a:t>
            </a:r>
          </a:p>
        </p:txBody>
      </p:sp>
      <p:sp>
        <p:nvSpPr>
          <p:cNvPr id="24" name="Rectangle 23"/>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566160" y="4709160"/>
            <a:ext cx="1289076"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1655"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Peak, one-sided</a:t>
            </a:r>
          </a:p>
        </p:txBody>
      </p:sp>
      <p:sp>
        <p:nvSpPr>
          <p:cNvPr id="29" name="TextBox 28"/>
          <p:cNvSpPr txBox="1"/>
          <p:nvPr/>
        </p:nvSpPr>
        <p:spPr>
          <a:xfrm>
            <a:off x="6391655"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0.7</a:t>
            </a:r>
            <a:r>
              <a:rPr sz="1600" b="1" i="0">
                <a:solidFill>
                  <a:srgbClr val="1B6B5A"/>
                </a:solidFill>
                <a:latin typeface="Georgia"/>
                <a:ea typeface="Georgia"/>
                <a:cs typeface="Georgia"/>
              </a:rPr>
              <a:t>%</a:t>
            </a:r>
          </a:p>
        </p:txBody>
      </p:sp>
      <p:sp>
        <p:nvSpPr>
          <p:cNvPr id="30" name="TextBox 29"/>
          <p:cNvSpPr txBox="1"/>
          <p:nvPr/>
        </p:nvSpPr>
        <p:spPr>
          <a:xfrm>
            <a:off x="6391655"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1.8</a:t>
            </a:r>
          </a:p>
        </p:txBody>
      </p:sp>
      <p:sp>
        <p:nvSpPr>
          <p:cNvPr id="31" name="TextBox 30"/>
          <p:cNvSpPr txBox="1"/>
          <p:nvPr/>
        </p:nvSpPr>
        <p:spPr>
          <a:xfrm>
            <a:off x="6391655"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32" name="TextBox 31"/>
          <p:cNvSpPr txBox="1"/>
          <p:nvPr/>
        </p:nvSpPr>
        <p:spPr>
          <a:xfrm>
            <a:off x="6391655"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17.5%</a:t>
            </a:r>
          </a:p>
        </p:txBody>
      </p:sp>
      <p:sp>
        <p:nvSpPr>
          <p:cNvPr id="33" name="Rectangle 32"/>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9944" y="4709160"/>
            <a:ext cx="813082"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Balanced</a:t>
            </a:r>
          </a:p>
        </p:txBody>
      </p:sp>
      <p:sp>
        <p:nvSpPr>
          <p:cNvPr id="38" name="TextBox 37"/>
          <p:cNvSpPr txBox="1"/>
          <p:nvPr/>
        </p:nvSpPr>
        <p:spPr>
          <a:xfrm>
            <a:off x="9235440"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0.3</a:t>
            </a:r>
            <a:r>
              <a:rPr sz="1600" b="1" i="0">
                <a:solidFill>
                  <a:srgbClr val="1B6B5A"/>
                </a:solidFill>
                <a:latin typeface="Georgia"/>
                <a:ea typeface="Georgia"/>
                <a:cs typeface="Georgia"/>
              </a:rPr>
              <a:t>%</a:t>
            </a:r>
          </a:p>
        </p:txBody>
      </p:sp>
      <p:sp>
        <p:nvSpPr>
          <p:cNvPr id="39" name="TextBox 38"/>
          <p:cNvSpPr txBox="1"/>
          <p:nvPr/>
        </p:nvSpPr>
        <p:spPr>
          <a:xfrm>
            <a:off x="9235440"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1.0</a:t>
            </a:r>
          </a:p>
        </p:txBody>
      </p:sp>
      <p:sp>
        <p:nvSpPr>
          <p:cNvPr id="40" name="TextBox 39"/>
          <p:cNvSpPr txBox="1"/>
          <p:nvPr/>
        </p:nvSpPr>
        <p:spPr>
          <a:xfrm>
            <a:off x="9235440"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41" name="TextBox 40"/>
          <p:cNvSpPr txBox="1"/>
          <p:nvPr/>
        </p:nvSpPr>
        <p:spPr>
          <a:xfrm>
            <a:off x="9235440"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7.9%</a:t>
            </a:r>
          </a:p>
        </p:txBody>
      </p:sp>
      <p:sp>
        <p:nvSpPr>
          <p:cNvPr id="42" name="Rectangle 41"/>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53728" y="4709160"/>
            <a:ext cx="348315"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Mean fuel is lower than the best baseline in every scenario. Some 95% intervals still cross zero — read the interval, not only the point estimate.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Versus strong adaptive controllers, the edge is small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Legacy fixed is the easy win. The test that matters is against tuned fixed, actuated, and max-pressure.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Scenario</a:t>
            </a:r>
          </a:p>
        </p:txBody>
      </p:sp>
      <p:sp>
        <p:nvSpPr>
          <p:cNvPr id="10" name="TextBox 9"/>
          <p:cNvSpPr txBox="1"/>
          <p:nvPr/>
        </p:nvSpPr>
        <p:spPr>
          <a:xfrm>
            <a:off x="276148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legacy fixed</a:t>
            </a:r>
          </a:p>
        </p:txBody>
      </p:sp>
      <p:sp>
        <p:nvSpPr>
          <p:cNvPr id="11" name="TextBox 10"/>
          <p:cNvSpPr txBox="1"/>
          <p:nvPr/>
        </p:nvSpPr>
        <p:spPr>
          <a:xfrm>
            <a:off x="491032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tuned fixed</a:t>
            </a:r>
          </a:p>
        </p:txBody>
      </p:sp>
      <p:sp>
        <p:nvSpPr>
          <p:cNvPr id="12" name="TextBox 11"/>
          <p:cNvSpPr txBox="1"/>
          <p:nvPr/>
        </p:nvSpPr>
        <p:spPr>
          <a:xfrm>
            <a:off x="705916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actuated</a:t>
            </a:r>
          </a:p>
        </p:txBody>
      </p:sp>
      <p:sp>
        <p:nvSpPr>
          <p:cNvPr id="13" name="TextBox 12"/>
          <p:cNvSpPr txBox="1"/>
          <p:nvPr/>
        </p:nvSpPr>
        <p:spPr>
          <a:xfrm>
            <a:off x="9208007" y="1572768"/>
            <a:ext cx="2487168"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max-pressure</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16" name="TextBox 15"/>
          <p:cNvSpPr txBox="1"/>
          <p:nvPr/>
        </p:nvSpPr>
        <p:spPr>
          <a:xfrm>
            <a:off x="272491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14.1%</a:t>
            </a:r>
          </a:p>
        </p:txBody>
      </p:sp>
      <p:sp>
        <p:nvSpPr>
          <p:cNvPr id="17" name="TextBox 16"/>
          <p:cNvSpPr txBox="1"/>
          <p:nvPr/>
        </p:nvSpPr>
        <p:spPr>
          <a:xfrm>
            <a:off x="270662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12.7 – 15.5</a:t>
            </a:r>
          </a:p>
        </p:txBody>
      </p:sp>
      <p:sp>
        <p:nvSpPr>
          <p:cNvPr id="18" name="TextBox 17"/>
          <p:cNvSpPr txBox="1"/>
          <p:nvPr/>
        </p:nvSpPr>
        <p:spPr>
          <a:xfrm>
            <a:off x="487375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12.1%</a:t>
            </a:r>
          </a:p>
        </p:txBody>
      </p:sp>
      <p:sp>
        <p:nvSpPr>
          <p:cNvPr id="19" name="TextBox 18"/>
          <p:cNvSpPr txBox="1"/>
          <p:nvPr/>
        </p:nvSpPr>
        <p:spPr>
          <a:xfrm>
            <a:off x="485546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11.4 – 12.8</a:t>
            </a:r>
          </a:p>
        </p:txBody>
      </p:sp>
      <p:sp>
        <p:nvSpPr>
          <p:cNvPr id="20" name="TextBox 19"/>
          <p:cNvSpPr txBox="1"/>
          <p:nvPr/>
        </p:nvSpPr>
        <p:spPr>
          <a:xfrm>
            <a:off x="702259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10.7%</a:t>
            </a:r>
          </a:p>
        </p:txBody>
      </p:sp>
      <p:sp>
        <p:nvSpPr>
          <p:cNvPr id="21" name="TextBox 20"/>
          <p:cNvSpPr txBox="1"/>
          <p:nvPr/>
        </p:nvSpPr>
        <p:spPr>
          <a:xfrm>
            <a:off x="7004303"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9.0 – 12.4</a:t>
            </a:r>
          </a:p>
        </p:txBody>
      </p:sp>
      <p:sp>
        <p:nvSpPr>
          <p:cNvPr id="22" name="TextBox 21"/>
          <p:cNvSpPr txBox="1"/>
          <p:nvPr/>
        </p:nvSpPr>
        <p:spPr>
          <a:xfrm>
            <a:off x="9171432" y="2066544"/>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1.9%</a:t>
            </a:r>
          </a:p>
        </p:txBody>
      </p:sp>
      <p:sp>
        <p:nvSpPr>
          <p:cNvPr id="23" name="TextBox 22"/>
          <p:cNvSpPr txBox="1"/>
          <p:nvPr/>
        </p:nvSpPr>
        <p:spPr>
          <a:xfrm>
            <a:off x="9153144" y="2359152"/>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3.0</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72491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13.2%</a:t>
            </a:r>
          </a:p>
        </p:txBody>
      </p:sp>
      <p:sp>
        <p:nvSpPr>
          <p:cNvPr id="27" name="TextBox 26"/>
          <p:cNvSpPr txBox="1"/>
          <p:nvPr/>
        </p:nvSpPr>
        <p:spPr>
          <a:xfrm>
            <a:off x="270662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12.3 – 14.3</a:t>
            </a:r>
          </a:p>
        </p:txBody>
      </p:sp>
      <p:sp>
        <p:nvSpPr>
          <p:cNvPr id="28" name="TextBox 27"/>
          <p:cNvSpPr txBox="1"/>
          <p:nvPr/>
        </p:nvSpPr>
        <p:spPr>
          <a:xfrm>
            <a:off x="487375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17.0%</a:t>
            </a:r>
          </a:p>
        </p:txBody>
      </p:sp>
      <p:sp>
        <p:nvSpPr>
          <p:cNvPr id="29" name="TextBox 28"/>
          <p:cNvSpPr txBox="1"/>
          <p:nvPr/>
        </p:nvSpPr>
        <p:spPr>
          <a:xfrm>
            <a:off x="485546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15.1 – 18.9</a:t>
            </a:r>
          </a:p>
        </p:txBody>
      </p:sp>
      <p:sp>
        <p:nvSpPr>
          <p:cNvPr id="30" name="TextBox 29"/>
          <p:cNvSpPr txBox="1"/>
          <p:nvPr/>
        </p:nvSpPr>
        <p:spPr>
          <a:xfrm>
            <a:off x="702259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31" name="TextBox 30"/>
          <p:cNvSpPr txBox="1"/>
          <p:nvPr/>
        </p:nvSpPr>
        <p:spPr>
          <a:xfrm>
            <a:off x="7004303"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7.8 – 9.2</a:t>
            </a:r>
          </a:p>
        </p:txBody>
      </p:sp>
      <p:sp>
        <p:nvSpPr>
          <p:cNvPr id="32" name="TextBox 31"/>
          <p:cNvSpPr txBox="1"/>
          <p:nvPr/>
        </p:nvSpPr>
        <p:spPr>
          <a:xfrm>
            <a:off x="9171432" y="2779776"/>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a:t>
            </a:r>
          </a:p>
        </p:txBody>
      </p:sp>
      <p:sp>
        <p:nvSpPr>
          <p:cNvPr id="33" name="TextBox 32"/>
          <p:cNvSpPr txBox="1"/>
          <p:nvPr/>
        </p:nvSpPr>
        <p:spPr>
          <a:xfrm>
            <a:off x="9153144" y="3072384"/>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0.6 – 1.7</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36" name="TextBox 35"/>
          <p:cNvSpPr txBox="1"/>
          <p:nvPr/>
        </p:nvSpPr>
        <p:spPr>
          <a:xfrm>
            <a:off x="272491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17.5%</a:t>
            </a:r>
          </a:p>
        </p:txBody>
      </p:sp>
      <p:sp>
        <p:nvSpPr>
          <p:cNvPr id="37" name="TextBox 36"/>
          <p:cNvSpPr txBox="1"/>
          <p:nvPr/>
        </p:nvSpPr>
        <p:spPr>
          <a:xfrm>
            <a:off x="270662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14.4 – 20.3</a:t>
            </a:r>
          </a:p>
        </p:txBody>
      </p:sp>
      <p:sp>
        <p:nvSpPr>
          <p:cNvPr id="38" name="TextBox 37"/>
          <p:cNvSpPr txBox="1"/>
          <p:nvPr/>
        </p:nvSpPr>
        <p:spPr>
          <a:xfrm>
            <a:off x="487375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9.6%</a:t>
            </a:r>
          </a:p>
        </p:txBody>
      </p:sp>
      <p:sp>
        <p:nvSpPr>
          <p:cNvPr id="39" name="TextBox 38"/>
          <p:cNvSpPr txBox="1"/>
          <p:nvPr/>
        </p:nvSpPr>
        <p:spPr>
          <a:xfrm>
            <a:off x="485546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8.0 – 11.2</a:t>
            </a:r>
          </a:p>
        </p:txBody>
      </p:sp>
      <p:sp>
        <p:nvSpPr>
          <p:cNvPr id="40" name="TextBox 39"/>
          <p:cNvSpPr txBox="1"/>
          <p:nvPr/>
        </p:nvSpPr>
        <p:spPr>
          <a:xfrm>
            <a:off x="702259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41" name="TextBox 40"/>
          <p:cNvSpPr txBox="1"/>
          <p:nvPr/>
        </p:nvSpPr>
        <p:spPr>
          <a:xfrm>
            <a:off x="7004303"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6.6 – 10.0</a:t>
            </a:r>
          </a:p>
        </p:txBody>
      </p:sp>
      <p:sp>
        <p:nvSpPr>
          <p:cNvPr id="42" name="TextBox 41"/>
          <p:cNvSpPr txBox="1"/>
          <p:nvPr/>
        </p:nvSpPr>
        <p:spPr>
          <a:xfrm>
            <a:off x="9171432" y="3493008"/>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0.7%</a:t>
            </a:r>
          </a:p>
        </p:txBody>
      </p:sp>
      <p:sp>
        <p:nvSpPr>
          <p:cNvPr id="43" name="TextBox 42"/>
          <p:cNvSpPr txBox="1"/>
          <p:nvPr/>
        </p:nvSpPr>
        <p:spPr>
          <a:xfrm>
            <a:off x="9153144" y="3785616"/>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1.8</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72491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7.9%</a:t>
            </a:r>
          </a:p>
        </p:txBody>
      </p:sp>
      <p:sp>
        <p:nvSpPr>
          <p:cNvPr id="47" name="TextBox 46"/>
          <p:cNvSpPr txBox="1"/>
          <p:nvPr/>
        </p:nvSpPr>
        <p:spPr>
          <a:xfrm>
            <a:off x="270662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9.1</a:t>
            </a:r>
          </a:p>
        </p:txBody>
      </p:sp>
      <p:sp>
        <p:nvSpPr>
          <p:cNvPr id="48" name="TextBox 47"/>
          <p:cNvSpPr txBox="1"/>
          <p:nvPr/>
        </p:nvSpPr>
        <p:spPr>
          <a:xfrm>
            <a:off x="487375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7.6%</a:t>
            </a:r>
          </a:p>
        </p:txBody>
      </p:sp>
      <p:sp>
        <p:nvSpPr>
          <p:cNvPr id="49" name="TextBox 48"/>
          <p:cNvSpPr txBox="1"/>
          <p:nvPr/>
        </p:nvSpPr>
        <p:spPr>
          <a:xfrm>
            <a:off x="485546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8.4</a:t>
            </a:r>
          </a:p>
        </p:txBody>
      </p:sp>
      <p:sp>
        <p:nvSpPr>
          <p:cNvPr id="50" name="TextBox 49"/>
          <p:cNvSpPr txBox="1"/>
          <p:nvPr/>
        </p:nvSpPr>
        <p:spPr>
          <a:xfrm>
            <a:off x="702259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4.8%</a:t>
            </a:r>
          </a:p>
        </p:txBody>
      </p:sp>
      <p:sp>
        <p:nvSpPr>
          <p:cNvPr id="51" name="TextBox 50"/>
          <p:cNvSpPr txBox="1"/>
          <p:nvPr/>
        </p:nvSpPr>
        <p:spPr>
          <a:xfrm>
            <a:off x="7004303"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4.3 – 5.3</a:t>
            </a:r>
          </a:p>
        </p:txBody>
      </p:sp>
      <p:sp>
        <p:nvSpPr>
          <p:cNvPr id="52" name="TextBox 51"/>
          <p:cNvSpPr txBox="1"/>
          <p:nvPr/>
        </p:nvSpPr>
        <p:spPr>
          <a:xfrm>
            <a:off x="9171432" y="4206240"/>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0.3%</a:t>
            </a:r>
          </a:p>
        </p:txBody>
      </p:sp>
      <p:sp>
        <p:nvSpPr>
          <p:cNvPr id="53" name="TextBox 52"/>
          <p:cNvSpPr txBox="1"/>
          <p:nvPr/>
        </p:nvSpPr>
        <p:spPr>
          <a:xfrm>
            <a:off x="9153144" y="4498848"/>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1.0</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0.3% to 1.9%. Some intervals still cross zero. Versus the count-only ablation: 0.1% to 2.0%. PPO is trained but not scored in this TEST 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on the locked test. Completed trips match fixed time (1,801).</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0.151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0.125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37.0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18.4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17.5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9.0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679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560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Low demand</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27.2 s   to   16.2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41%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32.2 s   to   18.8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30.0 s   to   21.8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EVIDENCE ON DISK</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Figures are regenerated from the locked TEST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Nothing on this slide is typed by hand. Open results/figures/ if you want the source PNGs.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CUT VS BASELINES</a:t>
            </a:r>
          </a:p>
        </p:txBody>
      </p:sp>
      <p:pic>
        <p:nvPicPr>
          <p:cNvPr id="10" name="Picture 9" descr="ii_pct_reduction.png"/>
          <p:cNvPicPr>
            <a:picLocks noChangeAspect="1"/>
          </p:cNvPicPr>
          <p:nvPr/>
        </p:nvPicPr>
        <p:blipFill>
          <a:blip r:embed="rId2"/>
          <a:stretch>
            <a:fillRect/>
          </a:stretch>
        </p:blipFill>
        <p:spPr>
          <a:xfrm>
            <a:off x="731520" y="2057400"/>
            <a:ext cx="5029200" cy="3566160"/>
          </a:xfrm>
          <a:prstGeom prst="rect">
            <a:avLst/>
          </a:prstGeom>
        </p:spPr>
      </p:pic>
      <p:sp>
        <p:nvSpPr>
          <p:cNvPr id="11" name="Rounded Rectangle 10"/>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CO₂, WAIT, QUEUE</a:t>
            </a:r>
          </a:p>
        </p:txBody>
      </p:sp>
      <p:pic>
        <p:nvPicPr>
          <p:cNvPr id="13" name="Picture 12" descr="i_grouped_bars.png"/>
          <p:cNvPicPr>
            <a:picLocks noChangeAspect="1"/>
          </p:cNvPicPr>
          <p:nvPr/>
        </p:nvPicPr>
        <p:blipFill>
          <a:blip r:embed="rId3"/>
          <a:stretch>
            <a:fillRect/>
          </a:stretch>
        </p:blipFill>
        <p:spPr>
          <a:xfrm>
            <a:off x="6446520" y="2057400"/>
            <a:ext cx="5029200" cy="3566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DEMAND, SIDE BY SIDE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Fixed timing on the left. XtraFlow on the right.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One seed, same arrivals. The clip is a feasibility demo, not a fuel-saving proof.</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554480"/>
            <a:ext cx="11228832" cy="4434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148840"/>
            <a:ext cx="10497311" cy="3200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SIDE-BY-SIDE DEMO</a:t>
            </a:r>
          </a:p>
        </p:txBody>
      </p:sp>
      <p:sp>
        <p:nvSpPr>
          <p:cNvPr id="10" name="TextBox 9"/>
          <p:cNvSpPr txBox="1"/>
          <p:nvPr/>
        </p:nvSpPr>
        <p:spPr>
          <a:xfrm>
            <a:off x="868680" y="2743200"/>
            <a:ext cx="10497311" cy="64008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results/demo/demo.mp4</a:t>
            </a:r>
          </a:p>
        </p:txBody>
      </p:sp>
      <p:sp>
        <p:nvSpPr>
          <p:cNvPr id="11" name="TextBox 10"/>
          <p:cNvSpPr txBox="1"/>
          <p:nvPr/>
        </p:nvSpPr>
        <p:spPr>
          <a:xfrm>
            <a:off x="868680" y="3566160"/>
            <a:ext cx="10497311" cy="1097280"/>
          </a:xfrm>
          <a:prstGeom prst="rect">
            <a:avLst/>
          </a:prstGeom>
          <a:noFill/>
        </p:spPr>
        <p:txBody>
          <a:bodyPr wrap="square" lIns="0" rIns="0" tIns="0" bIns="0" anchor="t"/>
          <a:lstStyle/>
          <a:p>
            <a:pPr algn="l">
              <a:spcBef>
                <a:spcPts val="0"/>
              </a:spcBef>
              <a:spcAft>
                <a:spcPts val="0"/>
              </a:spcAft>
            </a:pPr>
            <a:r>
              <a:rPr sz="1600" b="0" i="0">
                <a:solidFill>
                  <a:srgbClr val="C9D4DC"/>
                </a:solidFill>
                <a:latin typeface="Calibri"/>
                <a:ea typeface="Calibri"/>
                <a:cs typeface="Calibri"/>
              </a:rPr>
              <a:t>Play this file beside the talk. PowerPoint does not need the binary embedded here. Same demand seed: fixed timing versus XtraFlow.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At the highest miss rate, mean fuel is under the reference 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3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Every miss level on this slide has lower mean fuel than every reference line. Noise-model point (see noise_model.json) is 0.125 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2×2 grid was not scored in this publish</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corridor result is only quoted from results/grid_results.json after a successful sweep.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737360"/>
            <a:ext cx="11228832" cy="3291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10497311" cy="36576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Calibri"/>
                <a:ea typeface="Calibri"/>
                <a:cs typeface="Calibri"/>
              </a:rPr>
              <a:t>NO NUMERIC GRID CLAIM</a:t>
            </a:r>
          </a:p>
        </p:txBody>
      </p:sp>
      <p:sp>
        <p:nvSpPr>
          <p:cNvPr id="10" name="TextBox 9"/>
          <p:cNvSpPr txBox="1"/>
          <p:nvPr/>
        </p:nvSpPr>
        <p:spPr>
          <a:xfrm>
            <a:off x="868680" y="2606040"/>
            <a:ext cx="10497311" cy="1645920"/>
          </a:xfrm>
          <a:prstGeom prst="rect">
            <a:avLst/>
          </a:prstGeom>
          <a:noFill/>
        </p:spPr>
        <p:txBody>
          <a:bodyPr wrap="square" lIns="0" rIns="0" tIns="0" bIns="0" anchor="t"/>
          <a:lstStyle/>
          <a:p>
            <a:pPr algn="l">
              <a:spcBef>
                <a:spcPts val="0"/>
              </a:spcBef>
              <a:spcAft>
                <a:spcPts val="0"/>
              </a:spcAft>
            </a:pPr>
            <a:r>
              <a:rPr sz="1800" b="0" i="0">
                <a:solidFill>
                  <a:srgbClr val="FFFFFF"/>
                </a:solidFill>
                <a:latin typeface="Calibri"/>
                <a:ea typeface="Calibri"/>
                <a:cs typeface="Calibri"/>
              </a:rPr>
              <a:t>2x2 grid not scored in this time-cut run. duarouter path was fixed, but the single-intersection tls.add.xml does not provide programs for the grid TLS ids, so SUMO aborts.</a:t>
            </a:r>
          </a:p>
        </p:txBody>
      </p:sp>
      <p:sp>
        <p:nvSpPr>
          <p:cNvPr id="11" name="TextBox 10"/>
          <p:cNvSpPr txBox="1"/>
          <p:nvPr/>
        </p:nvSpPr>
        <p:spPr>
          <a:xfrm>
            <a:off x="868680" y="4434840"/>
            <a:ext cx="10497311" cy="365760"/>
          </a:xfrm>
          <a:prstGeom prst="rect">
            <a:avLst/>
          </a:prstGeom>
          <a:noFill/>
        </p:spPr>
        <p:txBody>
          <a:bodyPr wrap="square" lIns="0" rIns="0" tIns="0" bIns="0" anchor="t"/>
          <a:lstStyle/>
          <a:p>
            <a:pPr algn="l">
              <a:spcBef>
                <a:spcPts val="0"/>
              </a:spcBef>
              <a:spcAft>
                <a:spcPts val="0"/>
              </a:spcAft>
            </a:pPr>
            <a:r>
              <a:rPr sz="1500" b="0" i="0">
                <a:solidFill>
                  <a:srgbClr val="C9D4DC"/>
                </a:solidFill>
                <a:latin typeface="Calibri"/>
                <a:ea typeface="Calibri"/>
                <a:cs typeface="Calibri"/>
              </a:rPr>
              <a:t>Do not scale the single-junction result to a city.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Safety: Fewer conflicts. Emissions: Intervals overlap.</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Both lines are the verdict fields in the loaded JSON, not a fixed sentence.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13</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Fewer conflicts</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Intervals overlap</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13.9%. Alternate model 13.7%.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Assumed</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No field video in this run. Smoke-test miss rate 15%. Treat detector error as assumed until labels exist.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wide bar is the assumed city size, not uncertainty in the junction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14</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VS BEST BASELINE (SCENARIO-WEIGHTED)</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0.001</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0.001 – 0.002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9803"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0.3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2.7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0.9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2,296 tonnes   ·   629 tonnes – 6,640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A real video replaces the assumed detector-error model.</a:t>
            </a:r>
          </a:p>
        </p:txBody>
      </p:sp>
      <p:sp>
        <p:nvSpPr>
          <p:cNvPr id="14" name="Rounded Rectangle 13"/>
          <p:cNvSpPr/>
          <p:nvPr/>
        </p:nvSpPr>
        <p:spPr>
          <a:xfrm>
            <a:off x="8086344"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Score the corridor</a:t>
            </a:r>
          </a:p>
        </p:txBody>
      </p:sp>
      <p:sp>
        <p:nvSpPr>
          <p:cNvPr id="17" name="TextBox 16"/>
          <p:cNvSpPr txBox="1"/>
          <p:nvPr/>
        </p:nvSpPr>
        <p:spPr>
          <a:xfrm>
            <a:off x="8287512"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Quote a grid result only from results/grid_results.json after a successful sweep.</a:t>
            </a:r>
          </a:p>
        </p:txBody>
      </p:sp>
      <p:sp>
        <p:nvSpPr>
          <p:cNvPr id="18" name="TextBox 17"/>
          <p:cNvSpPr txBox="1"/>
          <p:nvPr/>
        </p:nvSpPr>
        <p:spPr>
          <a:xfrm>
            <a:off x="713232" y="5074920"/>
            <a:ext cx="1005840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This deck: 8 controllers · 5 test seeds (1–5) · oracle detector unless camera mode is on.</a:t>
            </a:r>
          </a:p>
        </p:txBody>
      </p:sp>
      <p:sp>
        <p:nvSpPr>
          <p:cNvPr id="19" name="TextBox 18"/>
          <p:cNvSpPr txBox="1"/>
          <p:nvPr/>
        </p:nvSpPr>
        <p:spPr>
          <a:xfrm>
            <a:off x="713232" y="544068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20" name="TextBox 19"/>
          <p:cNvSpPr txBox="1"/>
          <p:nvPr/>
        </p:nvSpPr>
        <p:spPr>
          <a:xfrm>
            <a:off x="713232" y="576072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assumed traffic mix</a:t>
            </a:r>
          </a:p>
        </p:txBody>
      </p:sp>
      <p:sp>
        <p:nvSpPr>
          <p:cNvPr id="21" name="TextBox 20"/>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2" name="TextBox 21"/>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assumed traffic mix</cp:category>
</cp:coreProperties>
</file>